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simple idea we’re calling Smart Connect. It’s about a familiar airport problem: passengers who are about to miss a connecting flight, and the airport finding out too late to help. I’ll walk through the problem, the idea, and why it might be worth exploring — this is a discussion, not a finished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situation we all recognize. A passenger is flying Delhi to Mumbai to London. The first flight is delayed by twenty-five minutes. Suddenly there is very little time to reach the next gate, finish airport processes, and board. The bags might not make it either. Often the passenger only realizes how tight it is when it is already too 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 Connect is a way to spot those passengers earlier. It looks at straightforward information operations already care about: the delay, how much time is left, where the next gate is, the passenger’s route through the airport, and whether the bags are moving with them. The point is to alert the airport while there is still a chance to help. We’re not describing a build — just the idea.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is simple. A flight is delayed. Smart Connect looks at who has a connection. It checks time, route, and baggage. It flags high-risk passengers. Then airport staff can step in earlier — not after the connection is already missed.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passenger: Delhi–Mumbai–London. Twenty-five minutes late on the first flight, forty-five minutes until boarding closes. Smart Connect would call this high risk. From there, the airport could choose to help — for example, guiding the passenger on a faster route, informing the next gate, alerting staff, or checking the bags. These are possible actions, not automatic promises.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often handle missed connections after they happen. This idea is about seeing the risk earlier, while help is still possible. One line to remember: don’t wait for the passenger to miss the flight. And it is not only the person — sometimes the passenger makes it and the bag doesn’t. Smart Connect keeps both in view.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passengers, this could mean less stress, clearer guidance, and fewer missed connections. For airlines and airports, it means better coordination and a chance to intervene earlier. We’re not attaching numbers to this yet. The value is a calmer, more timely response when a connection is at risk.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We’d start small: just identify high-risk connecting passengers. Over time, it could grow into baggage and gate coordination, passenger guidance, or help during wider disruptions. The shift we’re proposing is simple — from reacting to missed connections, to preventing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8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right.png"/>
          <p:cNvPicPr>
            <a:picLocks noChangeAspect="1"/>
          </p:cNvPicPr>
          <p:nvPr/>
        </p:nvPicPr>
        <p:blipFill>
          <a:blip r:embed="rId2"/>
          <a:stretch>
            <a:fillRect/>
          </a:stretch>
        </p:blipFill>
        <p:spPr>
          <a:xfrm>
            <a:off x="7269480" y="0"/>
            <a:ext cx="4928616" cy="6858000"/>
          </a:xfrm>
          <a:prstGeom prst="rect">
            <a:avLst/>
          </a:prstGeom>
        </p:spPr>
      </p:pic>
      <p:sp>
        <p:nvSpPr>
          <p:cNvPr id="4" name="Rectangle 3"/>
          <p:cNvSpPr/>
          <p:nvPr/>
        </p:nvSpPr>
        <p:spPr>
          <a:xfrm>
            <a:off x="0" y="0"/>
            <a:ext cx="7818120" cy="6858000"/>
          </a:xfrm>
          <a:prstGeom prst="rect">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18120" y="0"/>
            <a:ext cx="73152" cy="6858000"/>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84048"/>
            <a:ext cx="6583680" cy="256032"/>
          </a:xfrm>
          <a:prstGeom prst="rect">
            <a:avLst/>
          </a:prstGeom>
          <a:noFill/>
        </p:spPr>
        <p:txBody>
          <a:bodyPr wrap="square" lIns="0" rIns="0" tIns="0" bIns="0"/>
          <a:lstStyle/>
          <a:p>
            <a:pPr algn="l">
              <a:lnSpc>
                <a:spcPct val="108000"/>
              </a:lnSpc>
              <a:spcBef>
                <a:spcPts val="0"/>
              </a:spcBef>
              <a:spcAft>
                <a:spcPts val="0"/>
              </a:spcAft>
            </a:pPr>
            <a:r>
              <a:rPr sz="1100" b="1" i="0" spc="320">
                <a:solidFill>
                  <a:srgbClr val="C48614"/>
                </a:solidFill>
                <a:latin typeface="Arial"/>
                <a:ea typeface="Arial"/>
                <a:cs typeface="Arial"/>
              </a:rPr>
              <a:t>INNOVATION IDEA</a:t>
            </a:r>
          </a:p>
        </p:txBody>
      </p:sp>
      <p:sp>
        <p:nvSpPr>
          <p:cNvPr id="7" name="TextBox 6"/>
          <p:cNvSpPr txBox="1"/>
          <p:nvPr/>
        </p:nvSpPr>
        <p:spPr>
          <a:xfrm>
            <a:off x="685800" y="1691640"/>
            <a:ext cx="6766560" cy="777240"/>
          </a:xfrm>
          <a:prstGeom prst="rect">
            <a:avLst/>
          </a:prstGeom>
          <a:noFill/>
        </p:spPr>
        <p:txBody>
          <a:bodyPr wrap="square" lIns="0" rIns="0" tIns="0" bIns="0"/>
          <a:lstStyle/>
          <a:p>
            <a:pPr algn="l">
              <a:lnSpc>
                <a:spcPct val="108000"/>
              </a:lnSpc>
              <a:spcBef>
                <a:spcPts val="0"/>
              </a:spcBef>
              <a:spcAft>
                <a:spcPts val="0"/>
              </a:spcAft>
            </a:pPr>
            <a:r>
              <a:rPr sz="4000" b="1" i="0" spc="420">
                <a:solidFill>
                  <a:srgbClr val="FFFFFF"/>
                </a:solidFill>
                <a:latin typeface="Arial"/>
                <a:ea typeface="Arial"/>
                <a:cs typeface="Arial"/>
              </a:rPr>
              <a:t>SMART CONNECT</a:t>
            </a:r>
          </a:p>
        </p:txBody>
      </p:sp>
      <p:sp>
        <p:nvSpPr>
          <p:cNvPr id="8" name="Rectangle 7"/>
          <p:cNvSpPr/>
          <p:nvPr/>
        </p:nvSpPr>
        <p:spPr>
          <a:xfrm>
            <a:off x="713232" y="2542032"/>
            <a:ext cx="2148840" cy="50292"/>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788920"/>
            <a:ext cx="6583680" cy="1051560"/>
          </a:xfrm>
          <a:prstGeom prst="rect">
            <a:avLst/>
          </a:prstGeom>
          <a:noFill/>
        </p:spPr>
        <p:txBody>
          <a:bodyPr wrap="square" lIns="0" rIns="0" tIns="0" bIns="0"/>
          <a:lstStyle/>
          <a:p>
            <a:pPr algn="l">
              <a:lnSpc>
                <a:spcPct val="108000"/>
              </a:lnSpc>
              <a:spcBef>
                <a:spcPts val="0"/>
              </a:spcBef>
              <a:spcAft>
                <a:spcPts val="0"/>
              </a:spcAft>
            </a:pPr>
            <a:r>
              <a:rPr sz="2200" b="0" i="1">
                <a:solidFill>
                  <a:srgbClr val="F3EEE4"/>
                </a:solidFill>
                <a:latin typeface="Georgia"/>
                <a:ea typeface="Georgia"/>
                <a:cs typeface="Georgia"/>
              </a:rPr>
              <a:t>Helping passengers catch connecting flights</a:t>
            </a:r>
          </a:p>
          <a:p>
            <a:pPr algn="l">
              <a:lnSpc>
                <a:spcPct val="108000"/>
              </a:lnSpc>
              <a:spcBef>
                <a:spcPts val="0"/>
              </a:spcBef>
              <a:spcAft>
                <a:spcPts val="0"/>
              </a:spcAft>
            </a:pPr>
            <a:r>
              <a:rPr sz="2200" b="0" i="1">
                <a:solidFill>
                  <a:srgbClr val="F3EEE4"/>
                </a:solidFill>
                <a:latin typeface="Georgia"/>
                <a:ea typeface="Georgia"/>
                <a:cs typeface="Georgia"/>
              </a:rPr>
              <a:t>before it’s too late.</a:t>
            </a:r>
          </a:p>
        </p:txBody>
      </p:sp>
      <p:sp>
        <p:nvSpPr>
          <p:cNvPr id="10" name="TextBox 9"/>
          <p:cNvSpPr txBox="1"/>
          <p:nvPr/>
        </p:nvSpPr>
        <p:spPr>
          <a:xfrm>
            <a:off x="685800" y="4023360"/>
            <a:ext cx="6400800" cy="502920"/>
          </a:xfrm>
          <a:prstGeom prst="rect">
            <a:avLst/>
          </a:prstGeom>
          <a:noFill/>
        </p:spPr>
        <p:txBody>
          <a:bodyPr wrap="square" lIns="0" rIns="0" tIns="0" bIns="0"/>
          <a:lstStyle/>
          <a:p>
            <a:pPr algn="l">
              <a:lnSpc>
                <a:spcPct val="108000"/>
              </a:lnSpc>
              <a:spcBef>
                <a:spcPts val="0"/>
              </a:spcBef>
              <a:spcAft>
                <a:spcPts val="0"/>
              </a:spcAft>
            </a:pPr>
            <a:r>
              <a:rPr sz="1500" b="0" i="0">
                <a:solidFill>
                  <a:srgbClr val="C5D0DC"/>
                </a:solidFill>
                <a:latin typeface="Arial"/>
                <a:ea typeface="Arial"/>
                <a:cs typeface="Arial"/>
              </a:rPr>
              <a:t>A simple idea to prevent missed connections at airports.</a:t>
            </a:r>
          </a:p>
        </p:txBody>
      </p:sp>
      <p:sp>
        <p:nvSpPr>
          <p:cNvPr id="11" name="Rounded Rectangle 10"/>
          <p:cNvSpPr/>
          <p:nvPr/>
        </p:nvSpPr>
        <p:spPr>
          <a:xfrm>
            <a:off x="685800" y="5074920"/>
            <a:ext cx="6126480" cy="868680"/>
          </a:xfrm>
          <a:prstGeom prst="roundRect">
            <a:avLst>
              <a:gd name="adj" fmla="val 8000"/>
            </a:avLst>
          </a:prstGeom>
          <a:solidFill>
            <a:srgbClr val="163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irplane-cream.png"/>
          <p:cNvPicPr>
            <a:picLocks noChangeAspect="1"/>
          </p:cNvPicPr>
          <p:nvPr/>
        </p:nvPicPr>
        <p:blipFill>
          <a:blip r:embed="rId3"/>
          <a:stretch>
            <a:fillRect/>
          </a:stretch>
        </p:blipFill>
        <p:spPr>
          <a:xfrm>
            <a:off x="868680" y="5230368"/>
            <a:ext cx="502920" cy="502920"/>
          </a:xfrm>
          <a:prstGeom prst="rect">
            <a:avLst/>
          </a:prstGeom>
        </p:spPr>
      </p:pic>
      <p:sp>
        <p:nvSpPr>
          <p:cNvPr id="13" name="TextBox 12"/>
          <p:cNvSpPr txBox="1"/>
          <p:nvPr/>
        </p:nvSpPr>
        <p:spPr>
          <a:xfrm>
            <a:off x="1463040" y="5193792"/>
            <a:ext cx="5029200" cy="292608"/>
          </a:xfrm>
          <a:prstGeom prst="rect">
            <a:avLst/>
          </a:prstGeom>
          <a:noFill/>
        </p:spPr>
        <p:txBody>
          <a:bodyPr wrap="square" lIns="0" rIns="0" tIns="0" bIns="0"/>
          <a:lstStyle/>
          <a:p>
            <a:pPr algn="l">
              <a:lnSpc>
                <a:spcPct val="108000"/>
              </a:lnSpc>
              <a:spcBef>
                <a:spcPts val="0"/>
              </a:spcBef>
              <a:spcAft>
                <a:spcPts val="0"/>
              </a:spcAft>
            </a:pPr>
            <a:r>
              <a:rPr sz="1600" b="1" i="0" spc="80">
                <a:solidFill>
                  <a:srgbClr val="FFFFFF"/>
                </a:solidFill>
                <a:latin typeface="Arial"/>
                <a:ea typeface="Arial"/>
                <a:cs typeface="Arial"/>
              </a:rPr>
              <a:t>DEL    →    BOM    →    LHR</a:t>
            </a:r>
          </a:p>
        </p:txBody>
      </p:sp>
      <p:sp>
        <p:nvSpPr>
          <p:cNvPr id="14" name="TextBox 13"/>
          <p:cNvSpPr txBox="1"/>
          <p:nvPr/>
        </p:nvSpPr>
        <p:spPr>
          <a:xfrm>
            <a:off x="1463040" y="5486400"/>
            <a:ext cx="5029200" cy="292608"/>
          </a:xfrm>
          <a:prstGeom prst="rect">
            <a:avLst/>
          </a:prstGeom>
          <a:noFill/>
        </p:spPr>
        <p:txBody>
          <a:bodyPr wrap="square" lIns="0" rIns="0" tIns="0" bIns="0"/>
          <a:lstStyle/>
          <a:p>
            <a:pPr algn="l">
              <a:lnSpc>
                <a:spcPct val="108000"/>
              </a:lnSpc>
              <a:spcBef>
                <a:spcPts val="0"/>
              </a:spcBef>
              <a:spcAft>
                <a:spcPts val="0"/>
              </a:spcAft>
            </a:pPr>
            <a:r>
              <a:rPr sz="1100" b="0" i="0">
                <a:solidFill>
                  <a:srgbClr val="B7C6D4"/>
                </a:solidFill>
                <a:latin typeface="Arial"/>
                <a:ea typeface="Arial"/>
                <a:cs typeface="Arial"/>
              </a:rPr>
              <a:t>Delhi          Mumbai          London</a:t>
            </a:r>
          </a:p>
        </p:txBody>
      </p:sp>
      <p:sp>
        <p:nvSpPr>
          <p:cNvPr id="15" name="TextBox 14"/>
          <p:cNvSpPr txBox="1"/>
          <p:nvPr/>
        </p:nvSpPr>
        <p:spPr>
          <a:xfrm>
            <a:off x="685800" y="6510528"/>
            <a:ext cx="6858000" cy="237744"/>
          </a:xfrm>
          <a:prstGeom prst="rect">
            <a:avLst/>
          </a:prstGeom>
          <a:noFill/>
        </p:spPr>
        <p:txBody>
          <a:bodyPr wrap="square" lIns="0" rIns="0" tIns="0" bIns="0"/>
          <a:lstStyle/>
          <a:p>
            <a:pPr algn="l">
              <a:lnSpc>
                <a:spcPct val="108000"/>
              </a:lnSpc>
              <a:spcBef>
                <a:spcPts val="0"/>
              </a:spcBef>
              <a:spcAft>
                <a:spcPts val="0"/>
              </a:spcAft>
            </a:pPr>
            <a:r>
              <a:rPr sz="1000" b="0" i="0" spc="60">
                <a:solidFill>
                  <a:srgbClr val="8EA3B8"/>
                </a:solidFill>
                <a:latin typeface="Arial"/>
                <a:ea typeface="Arial"/>
                <a:cs typeface="Arial"/>
              </a:rPr>
              <a:t>Airport operations  ·  For internal discussion</a:t>
            </a:r>
          </a:p>
        </p:txBody>
      </p:sp>
      <p:sp>
        <p:nvSpPr>
          <p:cNvPr id="16" name="TextBox 15"/>
          <p:cNvSpPr txBox="1"/>
          <p:nvPr/>
        </p:nvSpPr>
        <p:spPr>
          <a:xfrm>
            <a:off x="10424160" y="6492240"/>
            <a:ext cx="1188720" cy="256032"/>
          </a:xfrm>
          <a:prstGeom prst="rect">
            <a:avLst/>
          </a:prstGeom>
          <a:noFill/>
        </p:spPr>
        <p:txBody>
          <a:bodyPr wrap="square" lIns="0" rIns="0" tIns="0" bIns="0"/>
          <a:lstStyle/>
          <a:p>
            <a:pPr algn="r">
              <a:lnSpc>
                <a:spcPct val="108000"/>
              </a:lnSpc>
              <a:spcBef>
                <a:spcPts val="0"/>
              </a:spcBef>
              <a:spcAft>
                <a:spcPts val="0"/>
              </a:spcAft>
            </a:pPr>
            <a:r>
              <a:rPr sz="1400" b="0" i="0">
                <a:solidFill>
                  <a:srgbClr val="F4E6C4"/>
                </a:solidFill>
                <a:latin typeface="Georgia"/>
                <a:ea typeface="Georgia"/>
                <a:cs typeface="Georgia"/>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510528"/>
            <a:ext cx="7772400" cy="256032"/>
          </a:xfrm>
          <a:prstGeom prst="rect">
            <a:avLst/>
          </a:prstGeom>
          <a:noFill/>
        </p:spPr>
        <p:txBody>
          <a:bodyPr wrap="square" lIns="0" rIns="0" tIns="0" bIns="0"/>
          <a:lstStyle/>
          <a:p>
            <a:pPr algn="l">
              <a:lnSpc>
                <a:spcPct val="108000"/>
              </a:lnSpc>
              <a:spcBef>
                <a:spcPts val="0"/>
              </a:spcBef>
              <a:spcAft>
                <a:spcPts val="0"/>
              </a:spcAft>
            </a:pPr>
            <a:r>
              <a:rPr sz="1000" b="0" i="0" spc="80">
                <a:solidFill>
                  <a:srgbClr val="6B6559"/>
                </a:solidFill>
                <a:latin typeface="Arial"/>
                <a:ea typeface="Arial"/>
                <a:cs typeface="Arial"/>
              </a:rPr>
              <a:t>SMART CONNECT   ·   Innovation idea for discussion</a:t>
            </a:r>
          </a:p>
        </p:txBody>
      </p:sp>
      <p:sp>
        <p:nvSpPr>
          <p:cNvPr id="5" name="TextBox 4"/>
          <p:cNvSpPr txBox="1"/>
          <p:nvPr/>
        </p:nvSpPr>
        <p:spPr>
          <a:xfrm>
            <a:off x="10378440" y="6492240"/>
            <a:ext cx="1234440" cy="274320"/>
          </a:xfrm>
          <a:prstGeom prst="rect">
            <a:avLst/>
          </a:prstGeom>
          <a:noFill/>
        </p:spPr>
        <p:txBody>
          <a:bodyPr wrap="square" lIns="0" rIns="0" tIns="0" bIns="0"/>
          <a:lstStyle/>
          <a:p>
            <a:pPr algn="r">
              <a:lnSpc>
                <a:spcPct val="108000"/>
              </a:lnSpc>
              <a:spcBef>
                <a:spcPts val="0"/>
              </a:spcBef>
              <a:spcAft>
                <a:spcPts val="0"/>
              </a:spcAft>
            </a:pPr>
            <a:r>
              <a:rPr sz="1400" b="0" i="0">
                <a:solidFill>
                  <a:srgbClr val="0C223F"/>
                </a:solidFill>
                <a:latin typeface="Georgia"/>
                <a:ea typeface="Georgia"/>
                <a:cs typeface="Georgia"/>
              </a:rPr>
              <a:t>02</a:t>
            </a:r>
          </a:p>
        </p:txBody>
      </p:sp>
      <p:sp>
        <p:nvSpPr>
          <p:cNvPr id="6" name="TextBox 5"/>
          <p:cNvSpPr txBox="1"/>
          <p:nvPr/>
        </p:nvSpPr>
        <p:spPr>
          <a:xfrm>
            <a:off x="640080" y="256032"/>
            <a:ext cx="7315200" cy="256032"/>
          </a:xfrm>
          <a:prstGeom prst="rect">
            <a:avLst/>
          </a:prstGeom>
          <a:noFill/>
        </p:spPr>
        <p:txBody>
          <a:bodyPr wrap="square" lIns="0" rIns="0" tIns="0" bIns="0"/>
          <a:lstStyle/>
          <a:p>
            <a:pPr algn="l">
              <a:lnSpc>
                <a:spcPct val="108000"/>
              </a:lnSpc>
              <a:spcBef>
                <a:spcPts val="0"/>
              </a:spcBef>
              <a:spcAft>
                <a:spcPts val="0"/>
              </a:spcAft>
            </a:pPr>
            <a:r>
              <a:rPr sz="1100" b="1" i="0" spc="280">
                <a:solidFill>
                  <a:srgbClr val="C48614"/>
                </a:solidFill>
                <a:latin typeface="Arial"/>
                <a:ea typeface="Arial"/>
                <a:cs typeface="Arial"/>
              </a:rPr>
              <a:t>THE PROBLEM</a:t>
            </a:r>
          </a:p>
        </p:txBody>
      </p:sp>
      <p:sp>
        <p:nvSpPr>
          <p:cNvPr id="7" name="TextBox 6"/>
          <p:cNvSpPr txBox="1"/>
          <p:nvPr/>
        </p:nvSpPr>
        <p:spPr>
          <a:xfrm>
            <a:off x="640080" y="475488"/>
            <a:ext cx="10789920" cy="640080"/>
          </a:xfrm>
          <a:prstGeom prst="rect">
            <a:avLst/>
          </a:prstGeom>
          <a:noFill/>
        </p:spPr>
        <p:txBody>
          <a:bodyPr wrap="square" lIns="0" rIns="0" tIns="0" bIns="0"/>
          <a:lstStyle/>
          <a:p>
            <a:pPr algn="l">
              <a:lnSpc>
                <a:spcPct val="108000"/>
              </a:lnSpc>
              <a:spcBef>
                <a:spcPts val="0"/>
              </a:spcBef>
              <a:spcAft>
                <a:spcPts val="0"/>
              </a:spcAft>
            </a:pPr>
            <a:r>
              <a:rPr sz="3000" b="0" i="0">
                <a:solidFill>
                  <a:srgbClr val="0C223F"/>
                </a:solidFill>
                <a:latin typeface="Georgia"/>
                <a:ea typeface="Georgia"/>
                <a:cs typeface="Georgia"/>
              </a:rPr>
              <a:t>When a delay meets a tight connection</a:t>
            </a:r>
          </a:p>
        </p:txBody>
      </p:sp>
      <p:sp>
        <p:nvSpPr>
          <p:cNvPr id="8" name="TextBox 7"/>
          <p:cNvSpPr txBox="1"/>
          <p:nvPr/>
        </p:nvSpPr>
        <p:spPr>
          <a:xfrm>
            <a:off x="640080" y="1170432"/>
            <a:ext cx="10972800" cy="320040"/>
          </a:xfrm>
          <a:prstGeom prst="rect">
            <a:avLst/>
          </a:prstGeom>
          <a:noFill/>
        </p:spPr>
        <p:txBody>
          <a:bodyPr wrap="square" lIns="0" rIns="0" tIns="0" bIns="0"/>
          <a:lstStyle/>
          <a:p>
            <a:pPr algn="l">
              <a:lnSpc>
                <a:spcPct val="108000"/>
              </a:lnSpc>
              <a:spcBef>
                <a:spcPts val="0"/>
              </a:spcBef>
              <a:spcAft>
                <a:spcPts val="0"/>
              </a:spcAft>
            </a:pPr>
            <a:r>
              <a:rPr sz="1600" b="0" i="0">
                <a:solidFill>
                  <a:srgbClr val="2A2824"/>
                </a:solidFill>
                <a:latin typeface="Arial"/>
                <a:ea typeface="Arial"/>
                <a:cs typeface="Arial"/>
              </a:rPr>
              <a:t>A passenger is travelling  Delhi  →  Mumbai  →  London.</a:t>
            </a:r>
          </a:p>
        </p:txBody>
      </p:sp>
      <p:sp>
        <p:nvSpPr>
          <p:cNvPr id="9" name="Rounded Rectangle 8"/>
          <p:cNvSpPr/>
          <p:nvPr/>
        </p:nvSpPr>
        <p:spPr>
          <a:xfrm>
            <a:off x="640080" y="1627632"/>
            <a:ext cx="2880360" cy="1481328"/>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27632"/>
            <a:ext cx="91440" cy="1481328"/>
          </a:xfrm>
          <a:prstGeom prst="rect">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719072"/>
            <a:ext cx="2468880" cy="502920"/>
          </a:xfrm>
          <a:prstGeom prst="rect">
            <a:avLst/>
          </a:prstGeom>
          <a:noFill/>
        </p:spPr>
        <p:txBody>
          <a:bodyPr wrap="square" lIns="0" rIns="0" tIns="0" bIns="0"/>
          <a:lstStyle/>
          <a:p>
            <a:pPr algn="l">
              <a:lnSpc>
                <a:spcPct val="108000"/>
              </a:lnSpc>
              <a:spcBef>
                <a:spcPts val="0"/>
              </a:spcBef>
              <a:spcAft>
                <a:spcPts val="0"/>
              </a:spcAft>
            </a:pPr>
            <a:r>
              <a:rPr sz="2800" b="0" i="0">
                <a:solidFill>
                  <a:srgbClr val="0C223F"/>
                </a:solidFill>
                <a:latin typeface="Georgia"/>
                <a:ea typeface="Georgia"/>
                <a:cs typeface="Georgia"/>
              </a:rPr>
              <a:t>DEL</a:t>
            </a:r>
          </a:p>
        </p:txBody>
      </p:sp>
      <p:sp>
        <p:nvSpPr>
          <p:cNvPr id="12" name="TextBox 11"/>
          <p:cNvSpPr txBox="1"/>
          <p:nvPr/>
        </p:nvSpPr>
        <p:spPr>
          <a:xfrm>
            <a:off x="896112" y="2212848"/>
            <a:ext cx="2468880" cy="256032"/>
          </a:xfrm>
          <a:prstGeom prst="rect">
            <a:avLst/>
          </a:prstGeom>
          <a:noFill/>
        </p:spPr>
        <p:txBody>
          <a:bodyPr wrap="square" lIns="0" rIns="0" tIns="0" bIns="0"/>
          <a:lstStyle/>
          <a:p>
            <a:pPr algn="l">
              <a:lnSpc>
                <a:spcPct val="108000"/>
              </a:lnSpc>
              <a:spcBef>
                <a:spcPts val="0"/>
              </a:spcBef>
              <a:spcAft>
                <a:spcPts val="0"/>
              </a:spcAft>
            </a:pPr>
            <a:r>
              <a:rPr sz="1400" b="0" i="0">
                <a:solidFill>
                  <a:srgbClr val="2A2824"/>
                </a:solidFill>
                <a:latin typeface="Arial"/>
                <a:ea typeface="Arial"/>
                <a:cs typeface="Arial"/>
              </a:rPr>
              <a:t>Delhi</a:t>
            </a:r>
          </a:p>
        </p:txBody>
      </p:sp>
      <p:sp>
        <p:nvSpPr>
          <p:cNvPr id="13" name="TextBox 12"/>
          <p:cNvSpPr txBox="1"/>
          <p:nvPr/>
        </p:nvSpPr>
        <p:spPr>
          <a:xfrm>
            <a:off x="896112" y="2487168"/>
            <a:ext cx="2468880" cy="256032"/>
          </a:xfrm>
          <a:prstGeom prst="rect">
            <a:avLst/>
          </a:prstGeom>
          <a:noFill/>
        </p:spPr>
        <p:txBody>
          <a:bodyPr wrap="square" lIns="0" rIns="0" tIns="0" bIns="0"/>
          <a:lstStyle/>
          <a:p>
            <a:pPr algn="l">
              <a:lnSpc>
                <a:spcPct val="108000"/>
              </a:lnSpc>
              <a:spcBef>
                <a:spcPts val="0"/>
              </a:spcBef>
              <a:spcAft>
                <a:spcPts val="0"/>
              </a:spcAft>
            </a:pPr>
            <a:r>
              <a:rPr sz="1000" b="1" i="0" spc="140">
                <a:solidFill>
                  <a:srgbClr val="6B6559"/>
                </a:solidFill>
                <a:latin typeface="Arial"/>
                <a:ea typeface="Arial"/>
                <a:cs typeface="Arial"/>
              </a:rPr>
              <a:t>FIRST FLIGHT</a:t>
            </a:r>
          </a:p>
        </p:txBody>
      </p:sp>
      <p:sp>
        <p:nvSpPr>
          <p:cNvPr id="14" name="Rectangle 13"/>
          <p:cNvSpPr/>
          <p:nvPr/>
        </p:nvSpPr>
        <p:spPr>
          <a:xfrm>
            <a:off x="3630168" y="2286000"/>
            <a:ext cx="832103" cy="32004"/>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945635" y="2212848"/>
            <a:ext cx="201168" cy="201168"/>
          </a:xfrm>
          <a:prstGeom prst="ellipse">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72000" y="1627632"/>
            <a:ext cx="2880360" cy="1481328"/>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1627632"/>
            <a:ext cx="91440" cy="1481328"/>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28032" y="1719072"/>
            <a:ext cx="2468880" cy="502920"/>
          </a:xfrm>
          <a:prstGeom prst="rect">
            <a:avLst/>
          </a:prstGeom>
          <a:noFill/>
        </p:spPr>
        <p:txBody>
          <a:bodyPr wrap="square" lIns="0" rIns="0" tIns="0" bIns="0"/>
          <a:lstStyle/>
          <a:p>
            <a:pPr algn="l">
              <a:lnSpc>
                <a:spcPct val="108000"/>
              </a:lnSpc>
              <a:spcBef>
                <a:spcPts val="0"/>
              </a:spcBef>
              <a:spcAft>
                <a:spcPts val="0"/>
              </a:spcAft>
            </a:pPr>
            <a:r>
              <a:rPr sz="2800" b="0" i="0">
                <a:solidFill>
                  <a:srgbClr val="0C223F"/>
                </a:solidFill>
                <a:latin typeface="Georgia"/>
                <a:ea typeface="Georgia"/>
                <a:cs typeface="Georgia"/>
              </a:rPr>
              <a:t>BOM</a:t>
            </a:r>
          </a:p>
        </p:txBody>
      </p:sp>
      <p:sp>
        <p:nvSpPr>
          <p:cNvPr id="19" name="TextBox 18"/>
          <p:cNvSpPr txBox="1"/>
          <p:nvPr/>
        </p:nvSpPr>
        <p:spPr>
          <a:xfrm>
            <a:off x="4828032" y="2212848"/>
            <a:ext cx="2468880" cy="256032"/>
          </a:xfrm>
          <a:prstGeom prst="rect">
            <a:avLst/>
          </a:prstGeom>
          <a:noFill/>
        </p:spPr>
        <p:txBody>
          <a:bodyPr wrap="square" lIns="0" rIns="0" tIns="0" bIns="0"/>
          <a:lstStyle/>
          <a:p>
            <a:pPr algn="l">
              <a:lnSpc>
                <a:spcPct val="108000"/>
              </a:lnSpc>
              <a:spcBef>
                <a:spcPts val="0"/>
              </a:spcBef>
              <a:spcAft>
                <a:spcPts val="0"/>
              </a:spcAft>
            </a:pPr>
            <a:r>
              <a:rPr sz="1400" b="0" i="0">
                <a:solidFill>
                  <a:srgbClr val="2A2824"/>
                </a:solidFill>
                <a:latin typeface="Arial"/>
                <a:ea typeface="Arial"/>
                <a:cs typeface="Arial"/>
              </a:rPr>
              <a:t>Mumbai</a:t>
            </a:r>
          </a:p>
        </p:txBody>
      </p:sp>
      <p:sp>
        <p:nvSpPr>
          <p:cNvPr id="20" name="TextBox 19"/>
          <p:cNvSpPr txBox="1"/>
          <p:nvPr/>
        </p:nvSpPr>
        <p:spPr>
          <a:xfrm>
            <a:off x="4828032" y="2487168"/>
            <a:ext cx="2468880" cy="256032"/>
          </a:xfrm>
          <a:prstGeom prst="rect">
            <a:avLst/>
          </a:prstGeom>
          <a:noFill/>
        </p:spPr>
        <p:txBody>
          <a:bodyPr wrap="square" lIns="0" rIns="0" tIns="0" bIns="0"/>
          <a:lstStyle/>
          <a:p>
            <a:pPr algn="l">
              <a:lnSpc>
                <a:spcPct val="108000"/>
              </a:lnSpc>
              <a:spcBef>
                <a:spcPts val="0"/>
              </a:spcBef>
              <a:spcAft>
                <a:spcPts val="0"/>
              </a:spcAft>
            </a:pPr>
            <a:r>
              <a:rPr sz="1000" b="1" i="0" spc="140">
                <a:solidFill>
                  <a:srgbClr val="6B6559"/>
                </a:solidFill>
                <a:latin typeface="Arial"/>
                <a:ea typeface="Arial"/>
                <a:cs typeface="Arial"/>
              </a:rPr>
              <a:t>CONNECTION</a:t>
            </a:r>
          </a:p>
        </p:txBody>
      </p:sp>
      <p:sp>
        <p:nvSpPr>
          <p:cNvPr id="21" name="Rectangle 20"/>
          <p:cNvSpPr/>
          <p:nvPr/>
        </p:nvSpPr>
        <p:spPr>
          <a:xfrm>
            <a:off x="7562088" y="2286000"/>
            <a:ext cx="832103" cy="32004"/>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877556" y="2212848"/>
            <a:ext cx="201168" cy="201168"/>
          </a:xfrm>
          <a:prstGeom prst="ellipse">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503919" y="1627632"/>
            <a:ext cx="2880360" cy="1481328"/>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3919" y="1627632"/>
            <a:ext cx="91440" cy="1481328"/>
          </a:xfrm>
          <a:prstGeom prst="rect">
            <a:avLst/>
          </a:prstGeom>
          <a:solidFill>
            <a:srgbClr val="1E6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59951" y="1719072"/>
            <a:ext cx="2468880" cy="502920"/>
          </a:xfrm>
          <a:prstGeom prst="rect">
            <a:avLst/>
          </a:prstGeom>
          <a:noFill/>
        </p:spPr>
        <p:txBody>
          <a:bodyPr wrap="square" lIns="0" rIns="0" tIns="0" bIns="0"/>
          <a:lstStyle/>
          <a:p>
            <a:pPr algn="l">
              <a:lnSpc>
                <a:spcPct val="108000"/>
              </a:lnSpc>
              <a:spcBef>
                <a:spcPts val="0"/>
              </a:spcBef>
              <a:spcAft>
                <a:spcPts val="0"/>
              </a:spcAft>
            </a:pPr>
            <a:r>
              <a:rPr sz="2800" b="0" i="0">
                <a:solidFill>
                  <a:srgbClr val="0C223F"/>
                </a:solidFill>
                <a:latin typeface="Georgia"/>
                <a:ea typeface="Georgia"/>
                <a:cs typeface="Georgia"/>
              </a:rPr>
              <a:t>LHR</a:t>
            </a:r>
          </a:p>
        </p:txBody>
      </p:sp>
      <p:sp>
        <p:nvSpPr>
          <p:cNvPr id="26" name="TextBox 25"/>
          <p:cNvSpPr txBox="1"/>
          <p:nvPr/>
        </p:nvSpPr>
        <p:spPr>
          <a:xfrm>
            <a:off x="8759951" y="2212848"/>
            <a:ext cx="2468880" cy="256032"/>
          </a:xfrm>
          <a:prstGeom prst="rect">
            <a:avLst/>
          </a:prstGeom>
          <a:noFill/>
        </p:spPr>
        <p:txBody>
          <a:bodyPr wrap="square" lIns="0" rIns="0" tIns="0" bIns="0"/>
          <a:lstStyle/>
          <a:p>
            <a:pPr algn="l">
              <a:lnSpc>
                <a:spcPct val="108000"/>
              </a:lnSpc>
              <a:spcBef>
                <a:spcPts val="0"/>
              </a:spcBef>
              <a:spcAft>
                <a:spcPts val="0"/>
              </a:spcAft>
            </a:pPr>
            <a:r>
              <a:rPr sz="1400" b="0" i="0">
                <a:solidFill>
                  <a:srgbClr val="2A2824"/>
                </a:solidFill>
                <a:latin typeface="Arial"/>
                <a:ea typeface="Arial"/>
                <a:cs typeface="Arial"/>
              </a:rPr>
              <a:t>London</a:t>
            </a:r>
          </a:p>
        </p:txBody>
      </p:sp>
      <p:sp>
        <p:nvSpPr>
          <p:cNvPr id="27" name="TextBox 26"/>
          <p:cNvSpPr txBox="1"/>
          <p:nvPr/>
        </p:nvSpPr>
        <p:spPr>
          <a:xfrm>
            <a:off x="8759951" y="2487168"/>
            <a:ext cx="2468880" cy="256032"/>
          </a:xfrm>
          <a:prstGeom prst="rect">
            <a:avLst/>
          </a:prstGeom>
          <a:noFill/>
        </p:spPr>
        <p:txBody>
          <a:bodyPr wrap="square" lIns="0" rIns="0" tIns="0" bIns="0"/>
          <a:lstStyle/>
          <a:p>
            <a:pPr algn="l">
              <a:lnSpc>
                <a:spcPct val="108000"/>
              </a:lnSpc>
              <a:spcBef>
                <a:spcPts val="0"/>
              </a:spcBef>
              <a:spcAft>
                <a:spcPts val="0"/>
              </a:spcAft>
            </a:pPr>
            <a:r>
              <a:rPr sz="1000" b="1" i="0" spc="140">
                <a:solidFill>
                  <a:srgbClr val="6B6559"/>
                </a:solidFill>
                <a:latin typeface="Arial"/>
                <a:ea typeface="Arial"/>
                <a:cs typeface="Arial"/>
              </a:rPr>
              <a:t>ONWARD FLIGHT</a:t>
            </a:r>
          </a:p>
        </p:txBody>
      </p:sp>
      <p:sp>
        <p:nvSpPr>
          <p:cNvPr id="28" name="Rounded Rectangle 27"/>
          <p:cNvSpPr/>
          <p:nvPr/>
        </p:nvSpPr>
        <p:spPr>
          <a:xfrm>
            <a:off x="3182112" y="1280160"/>
            <a:ext cx="1691640" cy="292608"/>
          </a:xfrm>
          <a:prstGeom prst="roundRect">
            <a:avLst>
              <a:gd name="adj" fmla="val 50000"/>
            </a:avLst>
          </a:prstGeom>
          <a:solidFill>
            <a:srgbClr val="B4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82112" y="1280160"/>
            <a:ext cx="1691640" cy="292608"/>
          </a:xfrm>
          <a:prstGeom prst="rect">
            <a:avLst/>
          </a:prstGeom>
          <a:noFill/>
        </p:spPr>
        <p:txBody>
          <a:bodyPr wrap="square" lIns="0" rIns="0" tIns="0" bIns="0"/>
          <a:lstStyle/>
          <a:p>
            <a:pPr algn="ctr">
              <a:lnSpc>
                <a:spcPct val="108000"/>
              </a:lnSpc>
              <a:spcBef>
                <a:spcPts val="0"/>
              </a:spcBef>
              <a:spcAft>
                <a:spcPts val="0"/>
              </a:spcAft>
            </a:pPr>
            <a:r>
              <a:rPr sz="1000" b="1" i="0" spc="120">
                <a:solidFill>
                  <a:srgbClr val="FFFFFF"/>
                </a:solidFill>
                <a:latin typeface="Arial"/>
                <a:ea typeface="Arial"/>
                <a:cs typeface="Arial"/>
              </a:rPr>
              <a:t>+25 MIN DELAY</a:t>
            </a:r>
          </a:p>
        </p:txBody>
      </p:sp>
      <p:sp>
        <p:nvSpPr>
          <p:cNvPr id="30" name="TextBox 29"/>
          <p:cNvSpPr txBox="1"/>
          <p:nvPr/>
        </p:nvSpPr>
        <p:spPr>
          <a:xfrm>
            <a:off x="640080" y="3273552"/>
            <a:ext cx="10972800" cy="292608"/>
          </a:xfrm>
          <a:prstGeom prst="rect">
            <a:avLst/>
          </a:prstGeom>
          <a:noFill/>
        </p:spPr>
        <p:txBody>
          <a:bodyPr wrap="square" lIns="0" rIns="0" tIns="0" bIns="0"/>
          <a:lstStyle/>
          <a:p>
            <a:pPr algn="l">
              <a:lnSpc>
                <a:spcPct val="108000"/>
              </a:lnSpc>
              <a:spcBef>
                <a:spcPts val="0"/>
              </a:spcBef>
              <a:spcAft>
                <a:spcPts val="0"/>
              </a:spcAft>
            </a:pPr>
            <a:r>
              <a:rPr sz="1500" b="0" i="0">
                <a:solidFill>
                  <a:srgbClr val="2A2824"/>
                </a:solidFill>
                <a:latin typeface="Arial"/>
                <a:ea typeface="Arial"/>
                <a:cs typeface="Arial"/>
              </a:rPr>
              <a:t>The Delhi–Mumbai flight is delayed by 25 minutes. Now there is very little time to:</a:t>
            </a:r>
          </a:p>
        </p:txBody>
      </p:sp>
      <p:sp>
        <p:nvSpPr>
          <p:cNvPr id="31" name="Rounded Rectangle 30"/>
          <p:cNvSpPr/>
          <p:nvPr/>
        </p:nvSpPr>
        <p:spPr>
          <a:xfrm>
            <a:off x="640080" y="3675887"/>
            <a:ext cx="3520440" cy="868680"/>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passenger-navy.png"/>
          <p:cNvPicPr>
            <a:picLocks noChangeAspect="1"/>
          </p:cNvPicPr>
          <p:nvPr/>
        </p:nvPicPr>
        <p:blipFill>
          <a:blip r:embed="rId2"/>
          <a:stretch>
            <a:fillRect/>
          </a:stretch>
        </p:blipFill>
        <p:spPr>
          <a:xfrm>
            <a:off x="804671" y="3822191"/>
            <a:ext cx="566928" cy="566928"/>
          </a:xfrm>
          <a:prstGeom prst="rect">
            <a:avLst/>
          </a:prstGeom>
        </p:spPr>
      </p:pic>
      <p:sp>
        <p:nvSpPr>
          <p:cNvPr id="33" name="TextBox 32"/>
          <p:cNvSpPr txBox="1"/>
          <p:nvPr/>
        </p:nvSpPr>
        <p:spPr>
          <a:xfrm>
            <a:off x="1508760" y="3858768"/>
            <a:ext cx="2468880" cy="530352"/>
          </a:xfrm>
          <a:prstGeom prst="rect">
            <a:avLst/>
          </a:prstGeom>
          <a:noFill/>
        </p:spPr>
        <p:txBody>
          <a:bodyPr wrap="square" lIns="0" rIns="0" tIns="0" bIns="0"/>
          <a:lstStyle/>
          <a:p>
            <a:pPr algn="l">
              <a:lnSpc>
                <a:spcPct val="108000"/>
              </a:lnSpc>
              <a:spcBef>
                <a:spcPts val="0"/>
              </a:spcBef>
              <a:spcAft>
                <a:spcPts val="0"/>
              </a:spcAft>
            </a:pPr>
            <a:r>
              <a:rPr sz="1500" b="0" i="0">
                <a:solidFill>
                  <a:srgbClr val="0C223F"/>
                </a:solidFill>
                <a:latin typeface="Arial"/>
                <a:ea typeface="Arial"/>
                <a:cs typeface="Arial"/>
              </a:rPr>
              <a:t>Reach the next gate</a:t>
            </a:r>
          </a:p>
        </p:txBody>
      </p:sp>
      <p:sp>
        <p:nvSpPr>
          <p:cNvPr id="34" name="Rounded Rectangle 33"/>
          <p:cNvSpPr/>
          <p:nvPr/>
        </p:nvSpPr>
        <p:spPr>
          <a:xfrm>
            <a:off x="4343400" y="3675887"/>
            <a:ext cx="3520440" cy="868680"/>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gate-navy.png"/>
          <p:cNvPicPr>
            <a:picLocks noChangeAspect="1"/>
          </p:cNvPicPr>
          <p:nvPr/>
        </p:nvPicPr>
        <p:blipFill>
          <a:blip r:embed="rId3"/>
          <a:stretch>
            <a:fillRect/>
          </a:stretch>
        </p:blipFill>
        <p:spPr>
          <a:xfrm>
            <a:off x="4507992" y="3822191"/>
            <a:ext cx="566928" cy="566928"/>
          </a:xfrm>
          <a:prstGeom prst="rect">
            <a:avLst/>
          </a:prstGeom>
        </p:spPr>
      </p:pic>
      <p:sp>
        <p:nvSpPr>
          <p:cNvPr id="36" name="TextBox 35"/>
          <p:cNvSpPr txBox="1"/>
          <p:nvPr/>
        </p:nvSpPr>
        <p:spPr>
          <a:xfrm>
            <a:off x="5212080" y="3858768"/>
            <a:ext cx="2468880" cy="530352"/>
          </a:xfrm>
          <a:prstGeom prst="rect">
            <a:avLst/>
          </a:prstGeom>
          <a:noFill/>
        </p:spPr>
        <p:txBody>
          <a:bodyPr wrap="square" lIns="0" rIns="0" tIns="0" bIns="0"/>
          <a:lstStyle/>
          <a:p>
            <a:pPr algn="l">
              <a:lnSpc>
                <a:spcPct val="108000"/>
              </a:lnSpc>
              <a:spcBef>
                <a:spcPts val="0"/>
              </a:spcBef>
              <a:spcAft>
                <a:spcPts val="0"/>
              </a:spcAft>
            </a:pPr>
            <a:r>
              <a:rPr sz="1500" b="0" i="0">
                <a:solidFill>
                  <a:srgbClr val="0C223F"/>
                </a:solidFill>
                <a:latin typeface="Arial"/>
                <a:ea typeface="Arial"/>
                <a:cs typeface="Arial"/>
              </a:rPr>
              <a:t>Complete airport processes</a:t>
            </a:r>
          </a:p>
        </p:txBody>
      </p:sp>
      <p:sp>
        <p:nvSpPr>
          <p:cNvPr id="37" name="Rounded Rectangle 36"/>
          <p:cNvSpPr/>
          <p:nvPr/>
        </p:nvSpPr>
        <p:spPr>
          <a:xfrm>
            <a:off x="8046719" y="3675887"/>
            <a:ext cx="3520440" cy="868680"/>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airplane-navy.png"/>
          <p:cNvPicPr>
            <a:picLocks noChangeAspect="1"/>
          </p:cNvPicPr>
          <p:nvPr/>
        </p:nvPicPr>
        <p:blipFill>
          <a:blip r:embed="rId4"/>
          <a:stretch>
            <a:fillRect/>
          </a:stretch>
        </p:blipFill>
        <p:spPr>
          <a:xfrm>
            <a:off x="8211311" y="3822191"/>
            <a:ext cx="566928" cy="566928"/>
          </a:xfrm>
          <a:prstGeom prst="rect">
            <a:avLst/>
          </a:prstGeom>
        </p:spPr>
      </p:pic>
      <p:sp>
        <p:nvSpPr>
          <p:cNvPr id="39" name="TextBox 38"/>
          <p:cNvSpPr txBox="1"/>
          <p:nvPr/>
        </p:nvSpPr>
        <p:spPr>
          <a:xfrm>
            <a:off x="8915399" y="3858768"/>
            <a:ext cx="2468880" cy="530352"/>
          </a:xfrm>
          <a:prstGeom prst="rect">
            <a:avLst/>
          </a:prstGeom>
          <a:noFill/>
        </p:spPr>
        <p:txBody>
          <a:bodyPr wrap="square" lIns="0" rIns="0" tIns="0" bIns="0"/>
          <a:lstStyle/>
          <a:p>
            <a:pPr algn="l">
              <a:lnSpc>
                <a:spcPct val="108000"/>
              </a:lnSpc>
              <a:spcBef>
                <a:spcPts val="0"/>
              </a:spcBef>
              <a:spcAft>
                <a:spcPts val="0"/>
              </a:spcAft>
            </a:pPr>
            <a:r>
              <a:rPr sz="1500" b="0" i="0">
                <a:solidFill>
                  <a:srgbClr val="0C223F"/>
                </a:solidFill>
                <a:latin typeface="Arial"/>
                <a:ea typeface="Arial"/>
                <a:cs typeface="Arial"/>
              </a:rPr>
              <a:t>Board the next flight</a:t>
            </a:r>
          </a:p>
        </p:txBody>
      </p:sp>
      <p:sp>
        <p:nvSpPr>
          <p:cNvPr id="40" name="Rounded Rectangle 39"/>
          <p:cNvSpPr/>
          <p:nvPr/>
        </p:nvSpPr>
        <p:spPr>
          <a:xfrm>
            <a:off x="640080" y="4709160"/>
            <a:ext cx="5349240" cy="868680"/>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baggage-navy.png"/>
          <p:cNvPicPr>
            <a:picLocks noChangeAspect="1"/>
          </p:cNvPicPr>
          <p:nvPr/>
        </p:nvPicPr>
        <p:blipFill>
          <a:blip r:embed="rId5"/>
          <a:stretch>
            <a:fillRect/>
          </a:stretch>
        </p:blipFill>
        <p:spPr>
          <a:xfrm>
            <a:off x="804672" y="4846320"/>
            <a:ext cx="566928" cy="566928"/>
          </a:xfrm>
          <a:prstGeom prst="rect">
            <a:avLst/>
          </a:prstGeom>
        </p:spPr>
      </p:pic>
      <p:sp>
        <p:nvSpPr>
          <p:cNvPr id="42" name="TextBox 41"/>
          <p:cNvSpPr txBox="1"/>
          <p:nvPr/>
        </p:nvSpPr>
        <p:spPr>
          <a:xfrm>
            <a:off x="1481328" y="4828032"/>
            <a:ext cx="4297680" cy="658368"/>
          </a:xfrm>
          <a:prstGeom prst="rect">
            <a:avLst/>
          </a:prstGeom>
          <a:noFill/>
        </p:spPr>
        <p:txBody>
          <a:bodyPr wrap="square" lIns="0" rIns="0" tIns="0" bIns="0"/>
          <a:lstStyle/>
          <a:p>
            <a:pPr algn="l">
              <a:lnSpc>
                <a:spcPct val="108000"/>
              </a:lnSpc>
              <a:spcBef>
                <a:spcPts val="0"/>
              </a:spcBef>
              <a:spcAft>
                <a:spcPts val="0"/>
              </a:spcAft>
            </a:pPr>
            <a:r>
              <a:rPr sz="1400" b="0" i="0">
                <a:solidFill>
                  <a:srgbClr val="2A2824"/>
                </a:solidFill>
                <a:latin typeface="Arial"/>
                <a:ea typeface="Arial"/>
                <a:cs typeface="Arial"/>
              </a:rPr>
              <a:t>Checked baggage may not reach</a:t>
            </a:r>
          </a:p>
          <a:p>
            <a:pPr algn="l">
              <a:lnSpc>
                <a:spcPct val="108000"/>
              </a:lnSpc>
              <a:spcBef>
                <a:spcPts val="0"/>
              </a:spcBef>
              <a:spcAft>
                <a:spcPts val="0"/>
              </a:spcAft>
            </a:pPr>
            <a:r>
              <a:rPr sz="1400" b="0" i="0">
                <a:solidFill>
                  <a:srgbClr val="2A2824"/>
                </a:solidFill>
                <a:latin typeface="Arial"/>
                <a:ea typeface="Arial"/>
                <a:cs typeface="Arial"/>
              </a:rPr>
              <a:t>the connecting aircraft either.</a:t>
            </a:r>
          </a:p>
        </p:txBody>
      </p:sp>
      <p:sp>
        <p:nvSpPr>
          <p:cNvPr id="43" name="Rounded Rectangle 42"/>
          <p:cNvSpPr/>
          <p:nvPr/>
        </p:nvSpPr>
        <p:spPr>
          <a:xfrm>
            <a:off x="6126480" y="4709160"/>
            <a:ext cx="5440680" cy="868680"/>
          </a:xfrm>
          <a:prstGeom prst="roundRect">
            <a:avLst>
              <a:gd name="adj" fmla="val 8000"/>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5080" y="4828032"/>
            <a:ext cx="5029200" cy="658368"/>
          </a:xfrm>
          <a:prstGeom prst="rect">
            <a:avLst/>
          </a:prstGeom>
          <a:noFill/>
        </p:spPr>
        <p:txBody>
          <a:bodyPr wrap="square" lIns="0" rIns="0" tIns="0" bIns="0"/>
          <a:lstStyle/>
          <a:p>
            <a:pPr algn="l">
              <a:lnSpc>
                <a:spcPct val="108000"/>
              </a:lnSpc>
              <a:spcBef>
                <a:spcPts val="0"/>
              </a:spcBef>
              <a:spcAft>
                <a:spcPts val="0"/>
              </a:spcAft>
            </a:pPr>
            <a:r>
              <a:rPr sz="1500" b="0" i="1">
                <a:solidFill>
                  <a:srgbClr val="FFFFFF"/>
                </a:solidFill>
                <a:latin typeface="Georgia"/>
                <a:ea typeface="Georgia"/>
                <a:cs typeface="Georgia"/>
              </a:rPr>
              <a:t>The passenger may only realize there is</a:t>
            </a:r>
          </a:p>
          <a:p>
            <a:pPr algn="l">
              <a:lnSpc>
                <a:spcPct val="108000"/>
              </a:lnSpc>
              <a:spcBef>
                <a:spcPts val="0"/>
              </a:spcBef>
              <a:spcAft>
                <a:spcPts val="0"/>
              </a:spcAft>
            </a:pPr>
            <a:r>
              <a:rPr sz="1500" b="0" i="1">
                <a:solidFill>
                  <a:srgbClr val="FFFFFF"/>
                </a:solidFill>
                <a:latin typeface="Georgia"/>
                <a:ea typeface="Georgia"/>
                <a:cs typeface="Georgia"/>
              </a:rPr>
              <a:t>a problem when it is already too late.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510528"/>
            <a:ext cx="7772400" cy="256032"/>
          </a:xfrm>
          <a:prstGeom prst="rect">
            <a:avLst/>
          </a:prstGeom>
          <a:noFill/>
        </p:spPr>
        <p:txBody>
          <a:bodyPr wrap="square" lIns="0" rIns="0" tIns="0" bIns="0"/>
          <a:lstStyle/>
          <a:p>
            <a:pPr algn="l">
              <a:lnSpc>
                <a:spcPct val="108000"/>
              </a:lnSpc>
              <a:spcBef>
                <a:spcPts val="0"/>
              </a:spcBef>
              <a:spcAft>
                <a:spcPts val="0"/>
              </a:spcAft>
            </a:pPr>
            <a:r>
              <a:rPr sz="1000" b="0" i="0" spc="80">
                <a:solidFill>
                  <a:srgbClr val="6B6559"/>
                </a:solidFill>
                <a:latin typeface="Arial"/>
                <a:ea typeface="Arial"/>
                <a:cs typeface="Arial"/>
              </a:rPr>
              <a:t>SMART CONNECT   ·   Innovation idea for discussion</a:t>
            </a:r>
          </a:p>
        </p:txBody>
      </p:sp>
      <p:sp>
        <p:nvSpPr>
          <p:cNvPr id="5" name="TextBox 4"/>
          <p:cNvSpPr txBox="1"/>
          <p:nvPr/>
        </p:nvSpPr>
        <p:spPr>
          <a:xfrm>
            <a:off x="10378440" y="6492240"/>
            <a:ext cx="1234440" cy="274320"/>
          </a:xfrm>
          <a:prstGeom prst="rect">
            <a:avLst/>
          </a:prstGeom>
          <a:noFill/>
        </p:spPr>
        <p:txBody>
          <a:bodyPr wrap="square" lIns="0" rIns="0" tIns="0" bIns="0"/>
          <a:lstStyle/>
          <a:p>
            <a:pPr algn="r">
              <a:lnSpc>
                <a:spcPct val="108000"/>
              </a:lnSpc>
              <a:spcBef>
                <a:spcPts val="0"/>
              </a:spcBef>
              <a:spcAft>
                <a:spcPts val="0"/>
              </a:spcAft>
            </a:pPr>
            <a:r>
              <a:rPr sz="1400" b="0" i="0">
                <a:solidFill>
                  <a:srgbClr val="0C223F"/>
                </a:solidFill>
                <a:latin typeface="Georgia"/>
                <a:ea typeface="Georgia"/>
                <a:cs typeface="Georgia"/>
              </a:rPr>
              <a:t>03</a:t>
            </a:r>
          </a:p>
        </p:txBody>
      </p:sp>
      <p:sp>
        <p:nvSpPr>
          <p:cNvPr id="6" name="TextBox 5"/>
          <p:cNvSpPr txBox="1"/>
          <p:nvPr/>
        </p:nvSpPr>
        <p:spPr>
          <a:xfrm>
            <a:off x="640080" y="256032"/>
            <a:ext cx="7315200" cy="256032"/>
          </a:xfrm>
          <a:prstGeom prst="rect">
            <a:avLst/>
          </a:prstGeom>
          <a:noFill/>
        </p:spPr>
        <p:txBody>
          <a:bodyPr wrap="square" lIns="0" rIns="0" tIns="0" bIns="0"/>
          <a:lstStyle/>
          <a:p>
            <a:pPr algn="l">
              <a:lnSpc>
                <a:spcPct val="108000"/>
              </a:lnSpc>
              <a:spcBef>
                <a:spcPts val="0"/>
              </a:spcBef>
              <a:spcAft>
                <a:spcPts val="0"/>
              </a:spcAft>
            </a:pPr>
            <a:r>
              <a:rPr sz="1100" b="1" i="0" spc="280">
                <a:solidFill>
                  <a:srgbClr val="C48614"/>
                </a:solidFill>
                <a:latin typeface="Arial"/>
                <a:ea typeface="Arial"/>
                <a:cs typeface="Arial"/>
              </a:rPr>
              <a:t>OUR IDEA</a:t>
            </a:r>
          </a:p>
        </p:txBody>
      </p:sp>
      <p:sp>
        <p:nvSpPr>
          <p:cNvPr id="7" name="TextBox 6"/>
          <p:cNvSpPr txBox="1"/>
          <p:nvPr/>
        </p:nvSpPr>
        <p:spPr>
          <a:xfrm>
            <a:off x="640080" y="475488"/>
            <a:ext cx="10789920" cy="640080"/>
          </a:xfrm>
          <a:prstGeom prst="rect">
            <a:avLst/>
          </a:prstGeom>
          <a:noFill/>
        </p:spPr>
        <p:txBody>
          <a:bodyPr wrap="square" lIns="0" rIns="0" tIns="0" bIns="0"/>
          <a:lstStyle/>
          <a:p>
            <a:pPr algn="l">
              <a:lnSpc>
                <a:spcPct val="108000"/>
              </a:lnSpc>
              <a:spcBef>
                <a:spcPts val="0"/>
              </a:spcBef>
              <a:spcAft>
                <a:spcPts val="0"/>
              </a:spcAft>
            </a:pPr>
            <a:r>
              <a:rPr sz="3000" b="0" i="0">
                <a:solidFill>
                  <a:srgbClr val="0C223F"/>
                </a:solidFill>
                <a:latin typeface="Georgia"/>
                <a:ea typeface="Georgia"/>
                <a:cs typeface="Georgia"/>
              </a:rPr>
              <a:t>Smart Connect</a:t>
            </a:r>
          </a:p>
        </p:txBody>
      </p:sp>
      <p:sp>
        <p:nvSpPr>
          <p:cNvPr id="8" name="Rounded Rectangle 7"/>
          <p:cNvSpPr/>
          <p:nvPr/>
        </p:nvSpPr>
        <p:spPr>
          <a:xfrm>
            <a:off x="640080" y="1234440"/>
            <a:ext cx="10927080" cy="1691640"/>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234440"/>
            <a:ext cx="91440" cy="1691640"/>
          </a:xfrm>
          <a:prstGeom prst="rect">
            <a:avLst/>
          </a:prstGeom>
          <a:solidFill>
            <a:srgbClr val="1E6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389888"/>
            <a:ext cx="10332720" cy="1371600"/>
          </a:xfrm>
          <a:prstGeom prst="rect">
            <a:avLst/>
          </a:prstGeom>
          <a:noFill/>
        </p:spPr>
        <p:txBody>
          <a:bodyPr wrap="square" lIns="0" rIns="0" tIns="0" bIns="0"/>
          <a:lstStyle/>
          <a:p>
            <a:pPr algn="l">
              <a:lnSpc>
                <a:spcPct val="108000"/>
              </a:lnSpc>
              <a:spcBef>
                <a:spcPts val="0"/>
              </a:spcBef>
              <a:spcAft>
                <a:spcPts val="0"/>
              </a:spcAft>
            </a:pPr>
            <a:r>
              <a:rPr sz="2200" b="0" i="1">
                <a:solidFill>
                  <a:srgbClr val="0C223F"/>
                </a:solidFill>
                <a:latin typeface="Georgia"/>
                <a:ea typeface="Georgia"/>
                <a:cs typeface="Georgia"/>
              </a:rPr>
              <a:t>Smart Connect identifies passengers who may be at risk of missing their connecting flight, and alerts the airport early enough to help them.</a:t>
            </a:r>
          </a:p>
        </p:txBody>
      </p:sp>
      <p:sp>
        <p:nvSpPr>
          <p:cNvPr id="11" name="TextBox 10"/>
          <p:cNvSpPr txBox="1"/>
          <p:nvPr/>
        </p:nvSpPr>
        <p:spPr>
          <a:xfrm>
            <a:off x="640080" y="3127248"/>
            <a:ext cx="10972800" cy="320040"/>
          </a:xfrm>
          <a:prstGeom prst="rect">
            <a:avLst/>
          </a:prstGeom>
          <a:noFill/>
        </p:spPr>
        <p:txBody>
          <a:bodyPr wrap="square" lIns="0" rIns="0" tIns="0" bIns="0"/>
          <a:lstStyle/>
          <a:p>
            <a:pPr algn="l">
              <a:lnSpc>
                <a:spcPct val="108000"/>
              </a:lnSpc>
              <a:spcBef>
                <a:spcPts val="0"/>
              </a:spcBef>
              <a:spcAft>
                <a:spcPts val="0"/>
              </a:spcAft>
            </a:pPr>
            <a:r>
              <a:rPr sz="1500" b="0" i="0">
                <a:solidFill>
                  <a:srgbClr val="2A2824"/>
                </a:solidFill>
                <a:latin typeface="Arial"/>
                <a:ea typeface="Arial"/>
                <a:cs typeface="Arial"/>
              </a:rPr>
              <a:t>It looks at simple information such as:</a:t>
            </a:r>
          </a:p>
        </p:txBody>
      </p:sp>
      <p:sp>
        <p:nvSpPr>
          <p:cNvPr id="12" name="Rounded Rectangle 11"/>
          <p:cNvSpPr/>
          <p:nvPr/>
        </p:nvSpPr>
        <p:spPr>
          <a:xfrm>
            <a:off x="640080" y="3566160"/>
            <a:ext cx="2029968" cy="1965960"/>
          </a:xfrm>
          <a:prstGeom prst="roundRect">
            <a:avLst>
              <a:gd name="adj" fmla="val 10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566160"/>
            <a:ext cx="2029968" cy="91440"/>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86384" y="3785615"/>
            <a:ext cx="201168" cy="201168"/>
          </a:xfrm>
          <a:prstGeom prst="ellipse">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irplane-navy.png"/>
          <p:cNvPicPr>
            <a:picLocks noChangeAspect="1"/>
          </p:cNvPicPr>
          <p:nvPr/>
        </p:nvPicPr>
        <p:blipFill>
          <a:blip r:embed="rId2"/>
          <a:stretch>
            <a:fillRect/>
          </a:stretch>
        </p:blipFill>
        <p:spPr>
          <a:xfrm>
            <a:off x="1280160" y="3822191"/>
            <a:ext cx="713232" cy="713232"/>
          </a:xfrm>
          <a:prstGeom prst="rect">
            <a:avLst/>
          </a:prstGeom>
        </p:spPr>
      </p:pic>
      <p:sp>
        <p:nvSpPr>
          <p:cNvPr id="16" name="TextBox 15"/>
          <p:cNvSpPr txBox="1"/>
          <p:nvPr/>
        </p:nvSpPr>
        <p:spPr>
          <a:xfrm>
            <a:off x="749808" y="4617720"/>
            <a:ext cx="1810512" cy="731520"/>
          </a:xfrm>
          <a:prstGeom prst="rect">
            <a:avLst/>
          </a:prstGeom>
          <a:noFill/>
        </p:spPr>
        <p:txBody>
          <a:bodyPr wrap="square" lIns="0" rIns="0" tIns="0" bIns="0"/>
          <a:lstStyle/>
          <a:p>
            <a:pPr algn="ctr">
              <a:lnSpc>
                <a:spcPct val="108000"/>
              </a:lnSpc>
              <a:spcBef>
                <a:spcPts val="0"/>
              </a:spcBef>
              <a:spcAft>
                <a:spcPts val="0"/>
              </a:spcAft>
            </a:pPr>
            <a:r>
              <a:rPr sz="1300" b="1" i="0">
                <a:solidFill>
                  <a:srgbClr val="0C223F"/>
                </a:solidFill>
                <a:latin typeface="Arial"/>
                <a:ea typeface="Arial"/>
                <a:cs typeface="Arial"/>
              </a:rPr>
              <a:t>Flight delay</a:t>
            </a:r>
          </a:p>
        </p:txBody>
      </p:sp>
      <p:sp>
        <p:nvSpPr>
          <p:cNvPr id="17" name="Rounded Rectangle 16"/>
          <p:cNvSpPr/>
          <p:nvPr/>
        </p:nvSpPr>
        <p:spPr>
          <a:xfrm>
            <a:off x="2834640" y="3566160"/>
            <a:ext cx="2029968" cy="1965960"/>
          </a:xfrm>
          <a:prstGeom prst="roundRect">
            <a:avLst>
              <a:gd name="adj" fmla="val 10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34640" y="3566160"/>
            <a:ext cx="2029968" cy="91440"/>
          </a:xfrm>
          <a:prstGeom prst="rect">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980944" y="3785615"/>
            <a:ext cx="201168" cy="201168"/>
          </a:xfrm>
          <a:prstGeom prst="ellipse">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lock-navy.png"/>
          <p:cNvPicPr>
            <a:picLocks noChangeAspect="1"/>
          </p:cNvPicPr>
          <p:nvPr/>
        </p:nvPicPr>
        <p:blipFill>
          <a:blip r:embed="rId3"/>
          <a:stretch>
            <a:fillRect/>
          </a:stretch>
        </p:blipFill>
        <p:spPr>
          <a:xfrm>
            <a:off x="3474720" y="3822191"/>
            <a:ext cx="713232" cy="713232"/>
          </a:xfrm>
          <a:prstGeom prst="rect">
            <a:avLst/>
          </a:prstGeom>
        </p:spPr>
      </p:pic>
      <p:sp>
        <p:nvSpPr>
          <p:cNvPr id="21" name="TextBox 20"/>
          <p:cNvSpPr txBox="1"/>
          <p:nvPr/>
        </p:nvSpPr>
        <p:spPr>
          <a:xfrm>
            <a:off x="2944368" y="4617720"/>
            <a:ext cx="1810512" cy="731520"/>
          </a:xfrm>
          <a:prstGeom prst="rect">
            <a:avLst/>
          </a:prstGeom>
          <a:noFill/>
        </p:spPr>
        <p:txBody>
          <a:bodyPr wrap="square" lIns="0" rIns="0" tIns="0" bIns="0"/>
          <a:lstStyle/>
          <a:p>
            <a:pPr algn="ctr">
              <a:lnSpc>
                <a:spcPct val="108000"/>
              </a:lnSpc>
              <a:spcBef>
                <a:spcPts val="0"/>
              </a:spcBef>
              <a:spcAft>
                <a:spcPts val="0"/>
              </a:spcAft>
            </a:pPr>
            <a:r>
              <a:rPr sz="1300" b="1" i="0">
                <a:solidFill>
                  <a:srgbClr val="0C223F"/>
                </a:solidFill>
                <a:latin typeface="Arial"/>
                <a:ea typeface="Arial"/>
                <a:cs typeface="Arial"/>
              </a:rPr>
              <a:t>Time remaining</a:t>
            </a:r>
          </a:p>
          <a:p>
            <a:pPr algn="ctr">
              <a:lnSpc>
                <a:spcPct val="108000"/>
              </a:lnSpc>
              <a:spcBef>
                <a:spcPts val="0"/>
              </a:spcBef>
              <a:spcAft>
                <a:spcPts val="0"/>
              </a:spcAft>
            </a:pPr>
            <a:r>
              <a:rPr sz="1300" b="1" i="0">
                <a:solidFill>
                  <a:srgbClr val="0C223F"/>
                </a:solidFill>
                <a:latin typeface="Arial"/>
                <a:ea typeface="Arial"/>
                <a:cs typeface="Arial"/>
              </a:rPr>
              <a:t>before the next flight</a:t>
            </a:r>
          </a:p>
        </p:txBody>
      </p:sp>
      <p:sp>
        <p:nvSpPr>
          <p:cNvPr id="22" name="Rounded Rectangle 21"/>
          <p:cNvSpPr/>
          <p:nvPr/>
        </p:nvSpPr>
        <p:spPr>
          <a:xfrm>
            <a:off x="5029200" y="3566160"/>
            <a:ext cx="2029968" cy="1965960"/>
          </a:xfrm>
          <a:prstGeom prst="roundRect">
            <a:avLst>
              <a:gd name="adj" fmla="val 10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0" y="3566160"/>
            <a:ext cx="2029968" cy="91440"/>
          </a:xfrm>
          <a:prstGeom prst="rect">
            <a:avLst/>
          </a:prstGeom>
          <a:solidFill>
            <a:srgbClr val="1E6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175504" y="3785615"/>
            <a:ext cx="201168" cy="201168"/>
          </a:xfrm>
          <a:prstGeom prst="ellipse">
            <a:avLst/>
          </a:prstGeom>
          <a:solidFill>
            <a:srgbClr val="1E6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gate-navy.png"/>
          <p:cNvPicPr>
            <a:picLocks noChangeAspect="1"/>
          </p:cNvPicPr>
          <p:nvPr/>
        </p:nvPicPr>
        <p:blipFill>
          <a:blip r:embed="rId4"/>
          <a:stretch>
            <a:fillRect/>
          </a:stretch>
        </p:blipFill>
        <p:spPr>
          <a:xfrm>
            <a:off x="5669280" y="3822191"/>
            <a:ext cx="713232" cy="713232"/>
          </a:xfrm>
          <a:prstGeom prst="rect">
            <a:avLst/>
          </a:prstGeom>
        </p:spPr>
      </p:pic>
      <p:sp>
        <p:nvSpPr>
          <p:cNvPr id="26" name="TextBox 25"/>
          <p:cNvSpPr txBox="1"/>
          <p:nvPr/>
        </p:nvSpPr>
        <p:spPr>
          <a:xfrm>
            <a:off x="5138928" y="4617720"/>
            <a:ext cx="1810512" cy="731520"/>
          </a:xfrm>
          <a:prstGeom prst="rect">
            <a:avLst/>
          </a:prstGeom>
          <a:noFill/>
        </p:spPr>
        <p:txBody>
          <a:bodyPr wrap="square" lIns="0" rIns="0" tIns="0" bIns="0"/>
          <a:lstStyle/>
          <a:p>
            <a:pPr algn="ctr">
              <a:lnSpc>
                <a:spcPct val="108000"/>
              </a:lnSpc>
              <a:spcBef>
                <a:spcPts val="0"/>
              </a:spcBef>
              <a:spcAft>
                <a:spcPts val="0"/>
              </a:spcAft>
            </a:pPr>
            <a:r>
              <a:rPr sz="1300" b="1" i="0">
                <a:solidFill>
                  <a:srgbClr val="0C223F"/>
                </a:solidFill>
                <a:latin typeface="Arial"/>
                <a:ea typeface="Arial"/>
                <a:cs typeface="Arial"/>
              </a:rPr>
              <a:t>Connecting gate</a:t>
            </a:r>
          </a:p>
        </p:txBody>
      </p:sp>
      <p:sp>
        <p:nvSpPr>
          <p:cNvPr id="27" name="Rounded Rectangle 26"/>
          <p:cNvSpPr/>
          <p:nvPr/>
        </p:nvSpPr>
        <p:spPr>
          <a:xfrm>
            <a:off x="7223760" y="3566160"/>
            <a:ext cx="2029968" cy="1965960"/>
          </a:xfrm>
          <a:prstGeom prst="roundRect">
            <a:avLst>
              <a:gd name="adj" fmla="val 10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23760" y="3566160"/>
            <a:ext cx="2029968" cy="91440"/>
          </a:xfrm>
          <a:prstGeom prst="rect">
            <a:avLst/>
          </a:prstGeom>
          <a:solidFill>
            <a:srgbClr val="163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70064" y="3785615"/>
            <a:ext cx="201168" cy="201168"/>
          </a:xfrm>
          <a:prstGeom prst="ellipse">
            <a:avLst/>
          </a:prstGeom>
          <a:solidFill>
            <a:srgbClr val="163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route-navy.png"/>
          <p:cNvPicPr>
            <a:picLocks noChangeAspect="1"/>
          </p:cNvPicPr>
          <p:nvPr/>
        </p:nvPicPr>
        <p:blipFill>
          <a:blip r:embed="rId5"/>
          <a:stretch>
            <a:fillRect/>
          </a:stretch>
        </p:blipFill>
        <p:spPr>
          <a:xfrm>
            <a:off x="7863840" y="3822191"/>
            <a:ext cx="713232" cy="713232"/>
          </a:xfrm>
          <a:prstGeom prst="rect">
            <a:avLst/>
          </a:prstGeom>
        </p:spPr>
      </p:pic>
      <p:sp>
        <p:nvSpPr>
          <p:cNvPr id="31" name="TextBox 30"/>
          <p:cNvSpPr txBox="1"/>
          <p:nvPr/>
        </p:nvSpPr>
        <p:spPr>
          <a:xfrm>
            <a:off x="7333488" y="4617720"/>
            <a:ext cx="1810512" cy="731520"/>
          </a:xfrm>
          <a:prstGeom prst="rect">
            <a:avLst/>
          </a:prstGeom>
          <a:noFill/>
        </p:spPr>
        <p:txBody>
          <a:bodyPr wrap="square" lIns="0" rIns="0" tIns="0" bIns="0"/>
          <a:lstStyle/>
          <a:p>
            <a:pPr algn="ctr">
              <a:lnSpc>
                <a:spcPct val="108000"/>
              </a:lnSpc>
              <a:spcBef>
                <a:spcPts val="0"/>
              </a:spcBef>
              <a:spcAft>
                <a:spcPts val="0"/>
              </a:spcAft>
            </a:pPr>
            <a:r>
              <a:rPr sz="1300" b="1" i="0">
                <a:solidFill>
                  <a:srgbClr val="0C223F"/>
                </a:solidFill>
                <a:latin typeface="Arial"/>
                <a:ea typeface="Arial"/>
                <a:cs typeface="Arial"/>
              </a:rPr>
              <a:t>Passenger’s</a:t>
            </a:r>
          </a:p>
          <a:p>
            <a:pPr algn="ctr">
              <a:lnSpc>
                <a:spcPct val="108000"/>
              </a:lnSpc>
              <a:spcBef>
                <a:spcPts val="0"/>
              </a:spcBef>
              <a:spcAft>
                <a:spcPts val="0"/>
              </a:spcAft>
            </a:pPr>
            <a:r>
              <a:rPr sz="1300" b="1" i="0">
                <a:solidFill>
                  <a:srgbClr val="0C223F"/>
                </a:solidFill>
                <a:latin typeface="Arial"/>
                <a:ea typeface="Arial"/>
                <a:cs typeface="Arial"/>
              </a:rPr>
              <a:t>location / route</a:t>
            </a:r>
          </a:p>
        </p:txBody>
      </p:sp>
      <p:sp>
        <p:nvSpPr>
          <p:cNvPr id="32" name="Rounded Rectangle 31"/>
          <p:cNvSpPr/>
          <p:nvPr/>
        </p:nvSpPr>
        <p:spPr>
          <a:xfrm>
            <a:off x="9418320" y="3566160"/>
            <a:ext cx="2029968" cy="1965960"/>
          </a:xfrm>
          <a:prstGeom prst="roundRect">
            <a:avLst>
              <a:gd name="adj" fmla="val 10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418320" y="3566160"/>
            <a:ext cx="2029968" cy="91440"/>
          </a:xfrm>
          <a:prstGeom prst="rect">
            <a:avLst/>
          </a:prstGeom>
          <a:solidFill>
            <a:srgbClr val="B4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564624" y="3785615"/>
            <a:ext cx="201168" cy="201168"/>
          </a:xfrm>
          <a:prstGeom prst="ellipse">
            <a:avLst/>
          </a:prstGeom>
          <a:solidFill>
            <a:srgbClr val="B4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baggage-navy.png"/>
          <p:cNvPicPr>
            <a:picLocks noChangeAspect="1"/>
          </p:cNvPicPr>
          <p:nvPr/>
        </p:nvPicPr>
        <p:blipFill>
          <a:blip r:embed="rId6"/>
          <a:stretch>
            <a:fillRect/>
          </a:stretch>
        </p:blipFill>
        <p:spPr>
          <a:xfrm>
            <a:off x="10058400" y="3822191"/>
            <a:ext cx="713232" cy="713232"/>
          </a:xfrm>
          <a:prstGeom prst="rect">
            <a:avLst/>
          </a:prstGeom>
        </p:spPr>
      </p:pic>
      <p:sp>
        <p:nvSpPr>
          <p:cNvPr id="36" name="TextBox 35"/>
          <p:cNvSpPr txBox="1"/>
          <p:nvPr/>
        </p:nvSpPr>
        <p:spPr>
          <a:xfrm>
            <a:off x="9528048" y="4617720"/>
            <a:ext cx="1810512" cy="731520"/>
          </a:xfrm>
          <a:prstGeom prst="rect">
            <a:avLst/>
          </a:prstGeom>
          <a:noFill/>
        </p:spPr>
        <p:txBody>
          <a:bodyPr wrap="square" lIns="0" rIns="0" tIns="0" bIns="0"/>
          <a:lstStyle/>
          <a:p>
            <a:pPr algn="ctr">
              <a:lnSpc>
                <a:spcPct val="108000"/>
              </a:lnSpc>
              <a:spcBef>
                <a:spcPts val="0"/>
              </a:spcBef>
              <a:spcAft>
                <a:spcPts val="0"/>
              </a:spcAft>
            </a:pPr>
            <a:r>
              <a:rPr sz="1300" b="1" i="0">
                <a:solidFill>
                  <a:srgbClr val="0C223F"/>
                </a:solidFill>
                <a:latin typeface="Arial"/>
                <a:ea typeface="Arial"/>
                <a:cs typeface="Arial"/>
              </a:rPr>
              <a:t>Baggage status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510528"/>
            <a:ext cx="7772400" cy="256032"/>
          </a:xfrm>
          <a:prstGeom prst="rect">
            <a:avLst/>
          </a:prstGeom>
          <a:noFill/>
        </p:spPr>
        <p:txBody>
          <a:bodyPr wrap="square" lIns="0" rIns="0" tIns="0" bIns="0"/>
          <a:lstStyle/>
          <a:p>
            <a:pPr algn="l">
              <a:lnSpc>
                <a:spcPct val="108000"/>
              </a:lnSpc>
              <a:spcBef>
                <a:spcPts val="0"/>
              </a:spcBef>
              <a:spcAft>
                <a:spcPts val="0"/>
              </a:spcAft>
            </a:pPr>
            <a:r>
              <a:rPr sz="1000" b="0" i="0" spc="80">
                <a:solidFill>
                  <a:srgbClr val="6B6559"/>
                </a:solidFill>
                <a:latin typeface="Arial"/>
                <a:ea typeface="Arial"/>
                <a:cs typeface="Arial"/>
              </a:rPr>
              <a:t>SMART CONNECT   ·   Innovation idea for discussion</a:t>
            </a:r>
          </a:p>
        </p:txBody>
      </p:sp>
      <p:sp>
        <p:nvSpPr>
          <p:cNvPr id="5" name="TextBox 4"/>
          <p:cNvSpPr txBox="1"/>
          <p:nvPr/>
        </p:nvSpPr>
        <p:spPr>
          <a:xfrm>
            <a:off x="10378440" y="6492240"/>
            <a:ext cx="1234440" cy="274320"/>
          </a:xfrm>
          <a:prstGeom prst="rect">
            <a:avLst/>
          </a:prstGeom>
          <a:noFill/>
        </p:spPr>
        <p:txBody>
          <a:bodyPr wrap="square" lIns="0" rIns="0" tIns="0" bIns="0"/>
          <a:lstStyle/>
          <a:p>
            <a:pPr algn="r">
              <a:lnSpc>
                <a:spcPct val="108000"/>
              </a:lnSpc>
              <a:spcBef>
                <a:spcPts val="0"/>
              </a:spcBef>
              <a:spcAft>
                <a:spcPts val="0"/>
              </a:spcAft>
            </a:pPr>
            <a:r>
              <a:rPr sz="1400" b="0" i="0">
                <a:solidFill>
                  <a:srgbClr val="0C223F"/>
                </a:solidFill>
                <a:latin typeface="Georgia"/>
                <a:ea typeface="Georgia"/>
                <a:cs typeface="Georgia"/>
              </a:rPr>
              <a:t>04</a:t>
            </a:r>
          </a:p>
        </p:txBody>
      </p:sp>
      <p:sp>
        <p:nvSpPr>
          <p:cNvPr id="6" name="TextBox 5"/>
          <p:cNvSpPr txBox="1"/>
          <p:nvPr/>
        </p:nvSpPr>
        <p:spPr>
          <a:xfrm>
            <a:off x="640080" y="256032"/>
            <a:ext cx="7315200" cy="256032"/>
          </a:xfrm>
          <a:prstGeom prst="rect">
            <a:avLst/>
          </a:prstGeom>
          <a:noFill/>
        </p:spPr>
        <p:txBody>
          <a:bodyPr wrap="square" lIns="0" rIns="0" tIns="0" bIns="0"/>
          <a:lstStyle/>
          <a:p>
            <a:pPr algn="l">
              <a:lnSpc>
                <a:spcPct val="108000"/>
              </a:lnSpc>
              <a:spcBef>
                <a:spcPts val="0"/>
              </a:spcBef>
              <a:spcAft>
                <a:spcPts val="0"/>
              </a:spcAft>
            </a:pPr>
            <a:r>
              <a:rPr sz="1100" b="1" i="0" spc="280">
                <a:solidFill>
                  <a:srgbClr val="C48614"/>
                </a:solidFill>
                <a:latin typeface="Arial"/>
                <a:ea typeface="Arial"/>
                <a:cs typeface="Arial"/>
              </a:rPr>
              <a:t>HOW IT WORKS</a:t>
            </a:r>
          </a:p>
        </p:txBody>
      </p:sp>
      <p:sp>
        <p:nvSpPr>
          <p:cNvPr id="7" name="TextBox 6"/>
          <p:cNvSpPr txBox="1"/>
          <p:nvPr/>
        </p:nvSpPr>
        <p:spPr>
          <a:xfrm>
            <a:off x="640080" y="475488"/>
            <a:ext cx="10789920" cy="640080"/>
          </a:xfrm>
          <a:prstGeom prst="rect">
            <a:avLst/>
          </a:prstGeom>
          <a:noFill/>
        </p:spPr>
        <p:txBody>
          <a:bodyPr wrap="square" lIns="0" rIns="0" tIns="0" bIns="0"/>
          <a:lstStyle/>
          <a:p>
            <a:pPr algn="l">
              <a:lnSpc>
                <a:spcPct val="108000"/>
              </a:lnSpc>
              <a:spcBef>
                <a:spcPts val="0"/>
              </a:spcBef>
              <a:spcAft>
                <a:spcPts val="0"/>
              </a:spcAft>
            </a:pPr>
            <a:r>
              <a:rPr sz="3000" b="0" i="0">
                <a:solidFill>
                  <a:srgbClr val="0C223F"/>
                </a:solidFill>
                <a:latin typeface="Georgia"/>
                <a:ea typeface="Georgia"/>
                <a:cs typeface="Georgia"/>
              </a:rPr>
              <a:t>Five simple steps</a:t>
            </a:r>
          </a:p>
        </p:txBody>
      </p:sp>
      <p:sp>
        <p:nvSpPr>
          <p:cNvPr id="8" name="Rectangle 7"/>
          <p:cNvSpPr/>
          <p:nvPr/>
        </p:nvSpPr>
        <p:spPr>
          <a:xfrm>
            <a:off x="978408" y="1920239"/>
            <a:ext cx="41148" cy="384048"/>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13232" y="1371600"/>
            <a:ext cx="566928" cy="566928"/>
          </a:xfrm>
          <a:prstGeom prst="ellipse">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371600"/>
            <a:ext cx="566928" cy="566928"/>
          </a:xfrm>
          <a:prstGeom prst="rect">
            <a:avLst/>
          </a:prstGeom>
          <a:noFill/>
        </p:spPr>
        <p:txBody>
          <a:bodyPr wrap="square" lIns="0" rIns="0" tIns="0" bIns="0"/>
          <a:lstStyle/>
          <a:p>
            <a:pPr algn="ctr">
              <a:lnSpc>
                <a:spcPct val="108000"/>
              </a:lnSpc>
              <a:spcBef>
                <a:spcPts val="0"/>
              </a:spcBef>
              <a:spcAft>
                <a:spcPts val="0"/>
              </a:spcAft>
            </a:pPr>
            <a:r>
              <a:rPr sz="1800" b="1" i="0">
                <a:solidFill>
                  <a:srgbClr val="FFFFFF"/>
                </a:solidFill>
                <a:latin typeface="Arial"/>
                <a:ea typeface="Arial"/>
                <a:cs typeface="Arial"/>
              </a:rPr>
              <a:t>1</a:t>
            </a:r>
          </a:p>
        </p:txBody>
      </p:sp>
      <p:sp>
        <p:nvSpPr>
          <p:cNvPr id="11" name="Rounded Rectangle 10"/>
          <p:cNvSpPr/>
          <p:nvPr/>
        </p:nvSpPr>
        <p:spPr>
          <a:xfrm>
            <a:off x="1481328" y="1261872"/>
            <a:ext cx="10012680" cy="804672"/>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irplane-navy.png"/>
          <p:cNvPicPr>
            <a:picLocks noChangeAspect="1"/>
          </p:cNvPicPr>
          <p:nvPr/>
        </p:nvPicPr>
        <p:blipFill>
          <a:blip r:embed="rId2"/>
          <a:stretch>
            <a:fillRect/>
          </a:stretch>
        </p:blipFill>
        <p:spPr>
          <a:xfrm>
            <a:off x="1664208" y="1389888"/>
            <a:ext cx="548640" cy="548640"/>
          </a:xfrm>
          <a:prstGeom prst="rect">
            <a:avLst/>
          </a:prstGeom>
        </p:spPr>
      </p:pic>
      <p:sp>
        <p:nvSpPr>
          <p:cNvPr id="13" name="TextBox 12"/>
          <p:cNvSpPr txBox="1"/>
          <p:nvPr/>
        </p:nvSpPr>
        <p:spPr>
          <a:xfrm>
            <a:off x="2377440" y="1261872"/>
            <a:ext cx="6766560" cy="804672"/>
          </a:xfrm>
          <a:prstGeom prst="rect">
            <a:avLst/>
          </a:prstGeom>
          <a:noFill/>
        </p:spPr>
        <p:txBody>
          <a:bodyPr wrap="square" lIns="0" rIns="0" tIns="0" bIns="0"/>
          <a:lstStyle/>
          <a:p>
            <a:pPr algn="l">
              <a:lnSpc>
                <a:spcPct val="108000"/>
              </a:lnSpc>
              <a:spcBef>
                <a:spcPts val="0"/>
              </a:spcBef>
              <a:spcAft>
                <a:spcPts val="0"/>
              </a:spcAft>
            </a:pPr>
            <a:r>
              <a:rPr sz="1800" b="1" i="0">
                <a:solidFill>
                  <a:srgbClr val="0C223F"/>
                </a:solidFill>
                <a:latin typeface="Arial"/>
                <a:ea typeface="Arial"/>
                <a:cs typeface="Arial"/>
              </a:rPr>
              <a:t>Flight gets delayed</a:t>
            </a:r>
          </a:p>
        </p:txBody>
      </p:sp>
      <p:sp>
        <p:nvSpPr>
          <p:cNvPr id="14" name="Rectangle 13"/>
          <p:cNvSpPr/>
          <p:nvPr/>
        </p:nvSpPr>
        <p:spPr>
          <a:xfrm>
            <a:off x="978408" y="2880359"/>
            <a:ext cx="41148" cy="384048"/>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331720"/>
            <a:ext cx="566928" cy="566928"/>
          </a:xfrm>
          <a:prstGeom prst="ellipse">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331720"/>
            <a:ext cx="566928" cy="566928"/>
          </a:xfrm>
          <a:prstGeom prst="rect">
            <a:avLst/>
          </a:prstGeom>
          <a:noFill/>
        </p:spPr>
        <p:txBody>
          <a:bodyPr wrap="square" lIns="0" rIns="0" tIns="0" bIns="0"/>
          <a:lstStyle/>
          <a:p>
            <a:pPr algn="ctr">
              <a:lnSpc>
                <a:spcPct val="108000"/>
              </a:lnSpc>
              <a:spcBef>
                <a:spcPts val="0"/>
              </a:spcBef>
              <a:spcAft>
                <a:spcPts val="0"/>
              </a:spcAft>
            </a:pPr>
            <a:r>
              <a:rPr sz="1800" b="1" i="0">
                <a:solidFill>
                  <a:srgbClr val="FFFFFF"/>
                </a:solidFill>
                <a:latin typeface="Arial"/>
                <a:ea typeface="Arial"/>
                <a:cs typeface="Arial"/>
              </a:rPr>
              <a:t>2</a:t>
            </a:r>
          </a:p>
        </p:txBody>
      </p:sp>
      <p:sp>
        <p:nvSpPr>
          <p:cNvPr id="17" name="Rounded Rectangle 16"/>
          <p:cNvSpPr/>
          <p:nvPr/>
        </p:nvSpPr>
        <p:spPr>
          <a:xfrm>
            <a:off x="1481328" y="2221991"/>
            <a:ext cx="10012680" cy="804672"/>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assenger-navy.png"/>
          <p:cNvPicPr>
            <a:picLocks noChangeAspect="1"/>
          </p:cNvPicPr>
          <p:nvPr/>
        </p:nvPicPr>
        <p:blipFill>
          <a:blip r:embed="rId3"/>
          <a:stretch>
            <a:fillRect/>
          </a:stretch>
        </p:blipFill>
        <p:spPr>
          <a:xfrm>
            <a:off x="1664208" y="2350008"/>
            <a:ext cx="548640" cy="548640"/>
          </a:xfrm>
          <a:prstGeom prst="rect">
            <a:avLst/>
          </a:prstGeom>
        </p:spPr>
      </p:pic>
      <p:sp>
        <p:nvSpPr>
          <p:cNvPr id="19" name="TextBox 18"/>
          <p:cNvSpPr txBox="1"/>
          <p:nvPr/>
        </p:nvSpPr>
        <p:spPr>
          <a:xfrm>
            <a:off x="2377440" y="2221991"/>
            <a:ext cx="6766560" cy="804672"/>
          </a:xfrm>
          <a:prstGeom prst="rect">
            <a:avLst/>
          </a:prstGeom>
          <a:noFill/>
        </p:spPr>
        <p:txBody>
          <a:bodyPr wrap="square" lIns="0" rIns="0" tIns="0" bIns="0"/>
          <a:lstStyle/>
          <a:p>
            <a:pPr algn="l">
              <a:lnSpc>
                <a:spcPct val="108000"/>
              </a:lnSpc>
              <a:spcBef>
                <a:spcPts val="0"/>
              </a:spcBef>
              <a:spcAft>
                <a:spcPts val="0"/>
              </a:spcAft>
            </a:pPr>
            <a:r>
              <a:rPr sz="1800" b="1" i="0">
                <a:solidFill>
                  <a:srgbClr val="0C223F"/>
                </a:solidFill>
                <a:latin typeface="Arial"/>
                <a:ea typeface="Arial"/>
                <a:cs typeface="Arial"/>
              </a:rPr>
              <a:t>Smart Connect checks the passenger’s connection</a:t>
            </a:r>
          </a:p>
        </p:txBody>
      </p:sp>
      <p:sp>
        <p:nvSpPr>
          <p:cNvPr id="20" name="Rectangle 19"/>
          <p:cNvSpPr/>
          <p:nvPr/>
        </p:nvSpPr>
        <p:spPr>
          <a:xfrm>
            <a:off x="978408" y="3840479"/>
            <a:ext cx="41148" cy="384048"/>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3291839"/>
            <a:ext cx="566928" cy="566928"/>
          </a:xfrm>
          <a:prstGeom prst="ellipse">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291839"/>
            <a:ext cx="566928" cy="566928"/>
          </a:xfrm>
          <a:prstGeom prst="rect">
            <a:avLst/>
          </a:prstGeom>
          <a:noFill/>
        </p:spPr>
        <p:txBody>
          <a:bodyPr wrap="square" lIns="0" rIns="0" tIns="0" bIns="0"/>
          <a:lstStyle/>
          <a:p>
            <a:pPr algn="ctr">
              <a:lnSpc>
                <a:spcPct val="108000"/>
              </a:lnSpc>
              <a:spcBef>
                <a:spcPts val="0"/>
              </a:spcBef>
              <a:spcAft>
                <a:spcPts val="0"/>
              </a:spcAft>
            </a:pPr>
            <a:r>
              <a:rPr sz="1800" b="1" i="0">
                <a:solidFill>
                  <a:srgbClr val="FFFFFF"/>
                </a:solidFill>
                <a:latin typeface="Arial"/>
                <a:ea typeface="Arial"/>
                <a:cs typeface="Arial"/>
              </a:rPr>
              <a:t>3</a:t>
            </a:r>
          </a:p>
        </p:txBody>
      </p:sp>
      <p:sp>
        <p:nvSpPr>
          <p:cNvPr id="23" name="Rounded Rectangle 22"/>
          <p:cNvSpPr/>
          <p:nvPr/>
        </p:nvSpPr>
        <p:spPr>
          <a:xfrm>
            <a:off x="1481328" y="3182111"/>
            <a:ext cx="10012680" cy="804672"/>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lock-navy.png"/>
          <p:cNvPicPr>
            <a:picLocks noChangeAspect="1"/>
          </p:cNvPicPr>
          <p:nvPr/>
        </p:nvPicPr>
        <p:blipFill>
          <a:blip r:embed="rId4"/>
          <a:stretch>
            <a:fillRect/>
          </a:stretch>
        </p:blipFill>
        <p:spPr>
          <a:xfrm>
            <a:off x="1664208" y="3310127"/>
            <a:ext cx="548640" cy="548640"/>
          </a:xfrm>
          <a:prstGeom prst="rect">
            <a:avLst/>
          </a:prstGeom>
        </p:spPr>
      </p:pic>
      <p:sp>
        <p:nvSpPr>
          <p:cNvPr id="25" name="TextBox 24"/>
          <p:cNvSpPr txBox="1"/>
          <p:nvPr/>
        </p:nvSpPr>
        <p:spPr>
          <a:xfrm>
            <a:off x="2377440" y="3182111"/>
            <a:ext cx="6766560" cy="804672"/>
          </a:xfrm>
          <a:prstGeom prst="rect">
            <a:avLst/>
          </a:prstGeom>
          <a:noFill/>
        </p:spPr>
        <p:txBody>
          <a:bodyPr wrap="square" lIns="0" rIns="0" tIns="0" bIns="0"/>
          <a:lstStyle/>
          <a:p>
            <a:pPr algn="l">
              <a:lnSpc>
                <a:spcPct val="108000"/>
              </a:lnSpc>
              <a:spcBef>
                <a:spcPts val="0"/>
              </a:spcBef>
              <a:spcAft>
                <a:spcPts val="0"/>
              </a:spcAft>
            </a:pPr>
            <a:r>
              <a:rPr sz="1800" b="1" i="0">
                <a:solidFill>
                  <a:srgbClr val="0C223F"/>
                </a:solidFill>
                <a:latin typeface="Arial"/>
                <a:ea typeface="Arial"/>
                <a:cs typeface="Arial"/>
              </a:rPr>
              <a:t>It checks the time, route and baggage</a:t>
            </a:r>
          </a:p>
        </p:txBody>
      </p:sp>
      <p:sp>
        <p:nvSpPr>
          <p:cNvPr id="26" name="Rectangle 25"/>
          <p:cNvSpPr/>
          <p:nvPr/>
        </p:nvSpPr>
        <p:spPr>
          <a:xfrm>
            <a:off x="978408" y="4800599"/>
            <a:ext cx="41148" cy="384048"/>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13232" y="4251959"/>
            <a:ext cx="566928" cy="566928"/>
          </a:xfrm>
          <a:prstGeom prst="ellipse">
            <a:avLst/>
          </a:prstGeom>
          <a:solidFill>
            <a:srgbClr val="B4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4251959"/>
            <a:ext cx="566928" cy="566928"/>
          </a:xfrm>
          <a:prstGeom prst="rect">
            <a:avLst/>
          </a:prstGeom>
          <a:noFill/>
        </p:spPr>
        <p:txBody>
          <a:bodyPr wrap="square" lIns="0" rIns="0" tIns="0" bIns="0"/>
          <a:lstStyle/>
          <a:p>
            <a:pPr algn="ctr">
              <a:lnSpc>
                <a:spcPct val="108000"/>
              </a:lnSpc>
              <a:spcBef>
                <a:spcPts val="0"/>
              </a:spcBef>
              <a:spcAft>
                <a:spcPts val="0"/>
              </a:spcAft>
            </a:pPr>
            <a:r>
              <a:rPr sz="1800" b="1" i="0">
                <a:solidFill>
                  <a:srgbClr val="FFFFFF"/>
                </a:solidFill>
                <a:latin typeface="Arial"/>
                <a:ea typeface="Arial"/>
                <a:cs typeface="Arial"/>
              </a:rPr>
              <a:t>4</a:t>
            </a:r>
          </a:p>
        </p:txBody>
      </p:sp>
      <p:sp>
        <p:nvSpPr>
          <p:cNvPr id="29" name="Rounded Rectangle 28"/>
          <p:cNvSpPr/>
          <p:nvPr/>
        </p:nvSpPr>
        <p:spPr>
          <a:xfrm>
            <a:off x="1481328" y="4142231"/>
            <a:ext cx="10012680" cy="804672"/>
          </a:xfrm>
          <a:prstGeom prst="roundRect">
            <a:avLst>
              <a:gd name="adj" fmla="val 8000"/>
            </a:avLst>
          </a:prstGeom>
          <a:solidFill>
            <a:srgbClr val="F6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baggage-navy.png"/>
          <p:cNvPicPr>
            <a:picLocks noChangeAspect="1"/>
          </p:cNvPicPr>
          <p:nvPr/>
        </p:nvPicPr>
        <p:blipFill>
          <a:blip r:embed="rId5"/>
          <a:stretch>
            <a:fillRect/>
          </a:stretch>
        </p:blipFill>
        <p:spPr>
          <a:xfrm>
            <a:off x="1664208" y="4270247"/>
            <a:ext cx="548640" cy="548640"/>
          </a:xfrm>
          <a:prstGeom prst="rect">
            <a:avLst/>
          </a:prstGeom>
        </p:spPr>
      </p:pic>
      <p:sp>
        <p:nvSpPr>
          <p:cNvPr id="31" name="TextBox 30"/>
          <p:cNvSpPr txBox="1"/>
          <p:nvPr/>
        </p:nvSpPr>
        <p:spPr>
          <a:xfrm>
            <a:off x="2377440" y="4142231"/>
            <a:ext cx="6766560" cy="804672"/>
          </a:xfrm>
          <a:prstGeom prst="rect">
            <a:avLst/>
          </a:prstGeom>
          <a:noFill/>
        </p:spPr>
        <p:txBody>
          <a:bodyPr wrap="square" lIns="0" rIns="0" tIns="0" bIns="0"/>
          <a:lstStyle/>
          <a:p>
            <a:pPr algn="l">
              <a:lnSpc>
                <a:spcPct val="108000"/>
              </a:lnSpc>
              <a:spcBef>
                <a:spcPts val="0"/>
              </a:spcBef>
              <a:spcAft>
                <a:spcPts val="0"/>
              </a:spcAft>
            </a:pPr>
            <a:r>
              <a:rPr sz="1800" b="1" i="0">
                <a:solidFill>
                  <a:srgbClr val="0C223F"/>
                </a:solidFill>
                <a:latin typeface="Arial"/>
                <a:ea typeface="Arial"/>
                <a:cs typeface="Arial"/>
              </a:rPr>
              <a:t>It identifies HIGH RISK passengers</a:t>
            </a:r>
          </a:p>
        </p:txBody>
      </p:sp>
      <p:sp>
        <p:nvSpPr>
          <p:cNvPr id="32" name="Rounded Rectangle 31"/>
          <p:cNvSpPr/>
          <p:nvPr/>
        </p:nvSpPr>
        <p:spPr>
          <a:xfrm>
            <a:off x="9189720" y="4361688"/>
            <a:ext cx="2029968" cy="365760"/>
          </a:xfrm>
          <a:prstGeom prst="roundRect">
            <a:avLst>
              <a:gd name="adj" fmla="val 50000"/>
            </a:avLst>
          </a:prstGeom>
          <a:solidFill>
            <a:srgbClr val="B4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89720" y="4361688"/>
            <a:ext cx="2029968" cy="365760"/>
          </a:xfrm>
          <a:prstGeom prst="rect">
            <a:avLst/>
          </a:prstGeom>
          <a:noFill/>
        </p:spPr>
        <p:txBody>
          <a:bodyPr wrap="square" lIns="0" rIns="0" tIns="0" bIns="0"/>
          <a:lstStyle/>
          <a:p>
            <a:pPr algn="ctr">
              <a:lnSpc>
                <a:spcPct val="108000"/>
              </a:lnSpc>
              <a:spcBef>
                <a:spcPts val="0"/>
              </a:spcBef>
              <a:spcAft>
                <a:spcPts val="0"/>
              </a:spcAft>
            </a:pPr>
            <a:r>
              <a:rPr sz="1200" b="1" i="0" spc="120">
                <a:solidFill>
                  <a:srgbClr val="FFFFFF"/>
                </a:solidFill>
                <a:latin typeface="Arial"/>
                <a:ea typeface="Arial"/>
                <a:cs typeface="Arial"/>
              </a:rPr>
              <a:t>HIGH RISK</a:t>
            </a:r>
          </a:p>
        </p:txBody>
      </p:sp>
      <p:sp>
        <p:nvSpPr>
          <p:cNvPr id="34" name="Oval 33"/>
          <p:cNvSpPr/>
          <p:nvPr/>
        </p:nvSpPr>
        <p:spPr>
          <a:xfrm>
            <a:off x="713232" y="5212079"/>
            <a:ext cx="566928" cy="566928"/>
          </a:xfrm>
          <a:prstGeom prst="ellipse">
            <a:avLst/>
          </a:prstGeom>
          <a:solidFill>
            <a:srgbClr val="1E6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5212079"/>
            <a:ext cx="566928" cy="566928"/>
          </a:xfrm>
          <a:prstGeom prst="rect">
            <a:avLst/>
          </a:prstGeom>
          <a:noFill/>
        </p:spPr>
        <p:txBody>
          <a:bodyPr wrap="square" lIns="0" rIns="0" tIns="0" bIns="0"/>
          <a:lstStyle/>
          <a:p>
            <a:pPr algn="ctr">
              <a:lnSpc>
                <a:spcPct val="108000"/>
              </a:lnSpc>
              <a:spcBef>
                <a:spcPts val="0"/>
              </a:spcBef>
              <a:spcAft>
                <a:spcPts val="0"/>
              </a:spcAft>
            </a:pPr>
            <a:r>
              <a:rPr sz="1800" b="1" i="0">
                <a:solidFill>
                  <a:srgbClr val="FFFFFF"/>
                </a:solidFill>
                <a:latin typeface="Arial"/>
                <a:ea typeface="Arial"/>
                <a:cs typeface="Arial"/>
              </a:rPr>
              <a:t>5</a:t>
            </a:r>
          </a:p>
        </p:txBody>
      </p:sp>
      <p:sp>
        <p:nvSpPr>
          <p:cNvPr id="36" name="Rounded Rectangle 35"/>
          <p:cNvSpPr/>
          <p:nvPr/>
        </p:nvSpPr>
        <p:spPr>
          <a:xfrm>
            <a:off x="1481328" y="5102351"/>
            <a:ext cx="10012680" cy="804672"/>
          </a:xfrm>
          <a:prstGeom prst="roundRect">
            <a:avLst>
              <a:gd name="adj" fmla="val 8000"/>
            </a:avLst>
          </a:prstGeom>
          <a:solidFill>
            <a:srgbClr val="DCE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staff-navy.png"/>
          <p:cNvPicPr>
            <a:picLocks noChangeAspect="1"/>
          </p:cNvPicPr>
          <p:nvPr/>
        </p:nvPicPr>
        <p:blipFill>
          <a:blip r:embed="rId6"/>
          <a:stretch>
            <a:fillRect/>
          </a:stretch>
        </p:blipFill>
        <p:spPr>
          <a:xfrm>
            <a:off x="1664208" y="5230367"/>
            <a:ext cx="548640" cy="548640"/>
          </a:xfrm>
          <a:prstGeom prst="rect">
            <a:avLst/>
          </a:prstGeom>
        </p:spPr>
      </p:pic>
      <p:sp>
        <p:nvSpPr>
          <p:cNvPr id="38" name="TextBox 37"/>
          <p:cNvSpPr txBox="1"/>
          <p:nvPr/>
        </p:nvSpPr>
        <p:spPr>
          <a:xfrm>
            <a:off x="2377440" y="5102351"/>
            <a:ext cx="6766560" cy="804672"/>
          </a:xfrm>
          <a:prstGeom prst="rect">
            <a:avLst/>
          </a:prstGeom>
          <a:noFill/>
        </p:spPr>
        <p:txBody>
          <a:bodyPr wrap="square" lIns="0" rIns="0" tIns="0" bIns="0"/>
          <a:lstStyle/>
          <a:p>
            <a:pPr algn="l">
              <a:lnSpc>
                <a:spcPct val="108000"/>
              </a:lnSpc>
              <a:spcBef>
                <a:spcPts val="0"/>
              </a:spcBef>
              <a:spcAft>
                <a:spcPts val="0"/>
              </a:spcAft>
            </a:pPr>
            <a:r>
              <a:rPr sz="1800" b="1" i="0">
                <a:solidFill>
                  <a:srgbClr val="0C223F"/>
                </a:solidFill>
                <a:latin typeface="Arial"/>
                <a:ea typeface="Arial"/>
                <a:cs typeface="Arial"/>
              </a:rPr>
              <a:t>Airport staff can take action early</a:t>
            </a:r>
          </a:p>
        </p:txBody>
      </p:sp>
      <p:sp>
        <p:nvSpPr>
          <p:cNvPr id="39" name="TextBox 38"/>
          <p:cNvSpPr txBox="1"/>
          <p:nvPr/>
        </p:nvSpPr>
        <p:spPr>
          <a:xfrm>
            <a:off x="9189720" y="5102351"/>
            <a:ext cx="2103120" cy="804672"/>
          </a:xfrm>
          <a:prstGeom prst="rect">
            <a:avLst/>
          </a:prstGeom>
          <a:noFill/>
        </p:spPr>
        <p:txBody>
          <a:bodyPr wrap="square" lIns="0" rIns="0" tIns="0" bIns="0"/>
          <a:lstStyle/>
          <a:p>
            <a:pPr algn="r">
              <a:lnSpc>
                <a:spcPct val="108000"/>
              </a:lnSpc>
              <a:spcBef>
                <a:spcPts val="0"/>
              </a:spcBef>
              <a:spcAft>
                <a:spcPts val="0"/>
              </a:spcAft>
            </a:pPr>
            <a:r>
              <a:rPr sz="1200" b="0" i="1">
                <a:solidFill>
                  <a:srgbClr val="1E6865"/>
                </a:solidFill>
                <a:latin typeface="Arial"/>
                <a:ea typeface="Arial"/>
                <a:cs typeface="Arial"/>
              </a:rPr>
              <a:t>While there</a:t>
            </a:r>
          </a:p>
          <a:p>
            <a:pPr algn="r">
              <a:lnSpc>
                <a:spcPct val="108000"/>
              </a:lnSpc>
              <a:spcBef>
                <a:spcPts val="0"/>
              </a:spcBef>
              <a:spcAft>
                <a:spcPts val="0"/>
              </a:spcAft>
            </a:pPr>
            <a:r>
              <a:rPr sz="1200" b="0" i="1">
                <a:solidFill>
                  <a:srgbClr val="1E6865"/>
                </a:solidFill>
                <a:latin typeface="Arial"/>
                <a:ea typeface="Arial"/>
                <a:cs typeface="Arial"/>
              </a:rPr>
              <a:t>is still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510528"/>
            <a:ext cx="7772400" cy="256032"/>
          </a:xfrm>
          <a:prstGeom prst="rect">
            <a:avLst/>
          </a:prstGeom>
          <a:noFill/>
        </p:spPr>
        <p:txBody>
          <a:bodyPr wrap="square" lIns="0" rIns="0" tIns="0" bIns="0"/>
          <a:lstStyle/>
          <a:p>
            <a:pPr algn="l">
              <a:lnSpc>
                <a:spcPct val="108000"/>
              </a:lnSpc>
              <a:spcBef>
                <a:spcPts val="0"/>
              </a:spcBef>
              <a:spcAft>
                <a:spcPts val="0"/>
              </a:spcAft>
            </a:pPr>
            <a:r>
              <a:rPr sz="1000" b="0" i="0" spc="80">
                <a:solidFill>
                  <a:srgbClr val="6B6559"/>
                </a:solidFill>
                <a:latin typeface="Arial"/>
                <a:ea typeface="Arial"/>
                <a:cs typeface="Arial"/>
              </a:rPr>
              <a:t>SMART CONNECT   ·   Innovation idea for discussion</a:t>
            </a:r>
          </a:p>
        </p:txBody>
      </p:sp>
      <p:sp>
        <p:nvSpPr>
          <p:cNvPr id="5" name="TextBox 4"/>
          <p:cNvSpPr txBox="1"/>
          <p:nvPr/>
        </p:nvSpPr>
        <p:spPr>
          <a:xfrm>
            <a:off x="10378440" y="6492240"/>
            <a:ext cx="1234440" cy="274320"/>
          </a:xfrm>
          <a:prstGeom prst="rect">
            <a:avLst/>
          </a:prstGeom>
          <a:noFill/>
        </p:spPr>
        <p:txBody>
          <a:bodyPr wrap="square" lIns="0" rIns="0" tIns="0" bIns="0"/>
          <a:lstStyle/>
          <a:p>
            <a:pPr algn="r">
              <a:lnSpc>
                <a:spcPct val="108000"/>
              </a:lnSpc>
              <a:spcBef>
                <a:spcPts val="0"/>
              </a:spcBef>
              <a:spcAft>
                <a:spcPts val="0"/>
              </a:spcAft>
            </a:pPr>
            <a:r>
              <a:rPr sz="1400" b="0" i="0">
                <a:solidFill>
                  <a:srgbClr val="0C223F"/>
                </a:solidFill>
                <a:latin typeface="Georgia"/>
                <a:ea typeface="Georgia"/>
                <a:cs typeface="Georgia"/>
              </a:rPr>
              <a:t>05</a:t>
            </a:r>
          </a:p>
        </p:txBody>
      </p:sp>
      <p:sp>
        <p:nvSpPr>
          <p:cNvPr id="6" name="TextBox 5"/>
          <p:cNvSpPr txBox="1"/>
          <p:nvPr/>
        </p:nvSpPr>
        <p:spPr>
          <a:xfrm>
            <a:off x="640080" y="256032"/>
            <a:ext cx="7315200" cy="256032"/>
          </a:xfrm>
          <a:prstGeom prst="rect">
            <a:avLst/>
          </a:prstGeom>
          <a:noFill/>
        </p:spPr>
        <p:txBody>
          <a:bodyPr wrap="square" lIns="0" rIns="0" tIns="0" bIns="0"/>
          <a:lstStyle/>
          <a:p>
            <a:pPr algn="l">
              <a:lnSpc>
                <a:spcPct val="108000"/>
              </a:lnSpc>
              <a:spcBef>
                <a:spcPts val="0"/>
              </a:spcBef>
              <a:spcAft>
                <a:spcPts val="0"/>
              </a:spcAft>
            </a:pPr>
            <a:r>
              <a:rPr sz="1100" b="1" i="0" spc="280">
                <a:solidFill>
                  <a:srgbClr val="C48614"/>
                </a:solidFill>
                <a:latin typeface="Arial"/>
                <a:ea typeface="Arial"/>
                <a:cs typeface="Arial"/>
              </a:rPr>
              <a:t>A SIMPLE EXAMPLE</a:t>
            </a:r>
          </a:p>
        </p:txBody>
      </p:sp>
      <p:sp>
        <p:nvSpPr>
          <p:cNvPr id="7" name="TextBox 6"/>
          <p:cNvSpPr txBox="1"/>
          <p:nvPr/>
        </p:nvSpPr>
        <p:spPr>
          <a:xfrm>
            <a:off x="640080" y="475488"/>
            <a:ext cx="10789920" cy="640080"/>
          </a:xfrm>
          <a:prstGeom prst="rect">
            <a:avLst/>
          </a:prstGeom>
          <a:noFill/>
        </p:spPr>
        <p:txBody>
          <a:bodyPr wrap="square" lIns="0" rIns="0" tIns="0" bIns="0"/>
          <a:lstStyle/>
          <a:p>
            <a:pPr algn="l">
              <a:lnSpc>
                <a:spcPct val="108000"/>
              </a:lnSpc>
              <a:spcBef>
                <a:spcPts val="0"/>
              </a:spcBef>
              <a:spcAft>
                <a:spcPts val="0"/>
              </a:spcAft>
            </a:pPr>
            <a:r>
              <a:rPr sz="3000" b="0" i="0">
                <a:solidFill>
                  <a:srgbClr val="0C223F"/>
                </a:solidFill>
                <a:latin typeface="Georgia"/>
                <a:ea typeface="Georgia"/>
                <a:cs typeface="Georgia"/>
              </a:rPr>
              <a:t>Same passenger. Now with time still left.</a:t>
            </a:r>
          </a:p>
        </p:txBody>
      </p:sp>
      <p:sp>
        <p:nvSpPr>
          <p:cNvPr id="8" name="Rounded Rectangle 7"/>
          <p:cNvSpPr/>
          <p:nvPr/>
        </p:nvSpPr>
        <p:spPr>
          <a:xfrm>
            <a:off x="640080" y="1261872"/>
            <a:ext cx="5989320" cy="4892040"/>
          </a:xfrm>
          <a:prstGeom prst="roundRect">
            <a:avLst>
              <a:gd name="adj" fmla="val 6000"/>
            </a:avLst>
          </a:prstGeom>
          <a:solidFill>
            <a:srgbClr val="FBF8F2"/>
          </a:solidFill>
          <a:ln w="11430">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261872"/>
            <a:ext cx="5989320" cy="530352"/>
          </a:xfrm>
          <a:prstGeom prst="rect">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1280160"/>
            <a:ext cx="3291840" cy="475488"/>
          </a:xfrm>
          <a:prstGeom prst="rect">
            <a:avLst/>
          </a:prstGeom>
          <a:noFill/>
        </p:spPr>
        <p:txBody>
          <a:bodyPr wrap="square" lIns="0" rIns="0" tIns="0" bIns="0"/>
          <a:lstStyle/>
          <a:p>
            <a:pPr algn="l">
              <a:lnSpc>
                <a:spcPct val="108000"/>
              </a:lnSpc>
              <a:spcBef>
                <a:spcPts val="0"/>
              </a:spcBef>
              <a:spcAft>
                <a:spcPts val="0"/>
              </a:spcAft>
            </a:pPr>
            <a:r>
              <a:rPr sz="1200" b="1" i="0" spc="240">
                <a:solidFill>
                  <a:srgbClr val="C48614"/>
                </a:solidFill>
                <a:latin typeface="Arial"/>
                <a:ea typeface="Arial"/>
                <a:cs typeface="Arial"/>
              </a:rPr>
              <a:t>BOARDING PASS</a:t>
            </a:r>
          </a:p>
        </p:txBody>
      </p:sp>
      <p:sp>
        <p:nvSpPr>
          <p:cNvPr id="11" name="Rounded Rectangle 10"/>
          <p:cNvSpPr/>
          <p:nvPr/>
        </p:nvSpPr>
        <p:spPr>
          <a:xfrm>
            <a:off x="4434840" y="1353312"/>
            <a:ext cx="1965960" cy="347472"/>
          </a:xfrm>
          <a:prstGeom prst="roundRect">
            <a:avLst>
              <a:gd name="adj" fmla="val 50000"/>
            </a:avLst>
          </a:prstGeom>
          <a:solidFill>
            <a:srgbClr val="B4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353312"/>
            <a:ext cx="1965960" cy="347472"/>
          </a:xfrm>
          <a:prstGeom prst="rect">
            <a:avLst/>
          </a:prstGeom>
          <a:noFill/>
        </p:spPr>
        <p:txBody>
          <a:bodyPr wrap="square" lIns="0" rIns="0" tIns="0" bIns="0"/>
          <a:lstStyle/>
          <a:p>
            <a:pPr algn="ctr">
              <a:lnSpc>
                <a:spcPct val="108000"/>
              </a:lnSpc>
              <a:spcBef>
                <a:spcPts val="0"/>
              </a:spcBef>
              <a:spcAft>
                <a:spcPts val="0"/>
              </a:spcAft>
            </a:pPr>
            <a:r>
              <a:rPr sz="1100" b="1" i="0" spc="120">
                <a:solidFill>
                  <a:srgbClr val="FFFFFF"/>
                </a:solidFill>
                <a:latin typeface="Arial"/>
                <a:ea typeface="Arial"/>
                <a:cs typeface="Arial"/>
              </a:rPr>
              <a:t>HIGH RISK</a:t>
            </a:r>
          </a:p>
        </p:txBody>
      </p:sp>
      <p:sp>
        <p:nvSpPr>
          <p:cNvPr id="13" name="TextBox 12"/>
          <p:cNvSpPr txBox="1"/>
          <p:nvPr/>
        </p:nvSpPr>
        <p:spPr>
          <a:xfrm>
            <a:off x="868680" y="1965960"/>
            <a:ext cx="5394960" cy="201168"/>
          </a:xfrm>
          <a:prstGeom prst="rect">
            <a:avLst/>
          </a:prstGeom>
          <a:noFill/>
        </p:spPr>
        <p:txBody>
          <a:bodyPr wrap="square" lIns="0" rIns="0" tIns="0" bIns="0"/>
          <a:lstStyle/>
          <a:p>
            <a:pPr algn="l">
              <a:lnSpc>
                <a:spcPct val="108000"/>
              </a:lnSpc>
              <a:spcBef>
                <a:spcPts val="0"/>
              </a:spcBef>
              <a:spcAft>
                <a:spcPts val="0"/>
              </a:spcAft>
            </a:pPr>
            <a:r>
              <a:rPr sz="1000" b="1" i="0" spc="160">
                <a:solidFill>
                  <a:srgbClr val="6B6559"/>
                </a:solidFill>
                <a:latin typeface="Arial"/>
                <a:ea typeface="Arial"/>
                <a:cs typeface="Arial"/>
              </a:rPr>
              <a:t>PASSENGER JOURNEY</a:t>
            </a:r>
          </a:p>
        </p:txBody>
      </p:sp>
      <p:sp>
        <p:nvSpPr>
          <p:cNvPr id="14" name="TextBox 13"/>
          <p:cNvSpPr txBox="1"/>
          <p:nvPr/>
        </p:nvSpPr>
        <p:spPr>
          <a:xfrm>
            <a:off x="868680" y="2176272"/>
            <a:ext cx="5394960" cy="502920"/>
          </a:xfrm>
          <a:prstGeom prst="rect">
            <a:avLst/>
          </a:prstGeom>
          <a:noFill/>
        </p:spPr>
        <p:txBody>
          <a:bodyPr wrap="square" lIns="0" rIns="0" tIns="0" bIns="0"/>
          <a:lstStyle/>
          <a:p>
            <a:pPr algn="l">
              <a:lnSpc>
                <a:spcPct val="108000"/>
              </a:lnSpc>
              <a:spcBef>
                <a:spcPts val="0"/>
              </a:spcBef>
              <a:spcAft>
                <a:spcPts val="0"/>
              </a:spcAft>
            </a:pPr>
            <a:r>
              <a:rPr sz="2600" b="0" i="0">
                <a:solidFill>
                  <a:srgbClr val="0C223F"/>
                </a:solidFill>
                <a:latin typeface="Georgia"/>
                <a:ea typeface="Georgia"/>
                <a:cs typeface="Georgia"/>
              </a:rPr>
              <a:t>DEL  →  BOM  →  LHR</a:t>
            </a:r>
          </a:p>
        </p:txBody>
      </p:sp>
      <p:sp>
        <p:nvSpPr>
          <p:cNvPr id="15" name="TextBox 14"/>
          <p:cNvSpPr txBox="1"/>
          <p:nvPr/>
        </p:nvSpPr>
        <p:spPr>
          <a:xfrm>
            <a:off x="868680" y="2670048"/>
            <a:ext cx="5394960" cy="256032"/>
          </a:xfrm>
          <a:prstGeom prst="rect">
            <a:avLst/>
          </a:prstGeom>
          <a:noFill/>
        </p:spPr>
        <p:txBody>
          <a:bodyPr wrap="square" lIns="0" rIns="0" tIns="0" bIns="0"/>
          <a:lstStyle/>
          <a:p>
            <a:pPr algn="l">
              <a:lnSpc>
                <a:spcPct val="108000"/>
              </a:lnSpc>
              <a:spcBef>
                <a:spcPts val="0"/>
              </a:spcBef>
              <a:spcAft>
                <a:spcPts val="0"/>
              </a:spcAft>
            </a:pPr>
            <a:r>
              <a:rPr sz="1200" b="0" i="0">
                <a:solidFill>
                  <a:srgbClr val="6B6559"/>
                </a:solidFill>
                <a:latin typeface="Arial"/>
                <a:ea typeface="Arial"/>
                <a:cs typeface="Arial"/>
              </a:rPr>
              <a:t>Delhi          Mumbai          London</a:t>
            </a:r>
          </a:p>
        </p:txBody>
      </p:sp>
      <p:sp>
        <p:nvSpPr>
          <p:cNvPr id="16" name="Oval 15"/>
          <p:cNvSpPr/>
          <p:nvPr/>
        </p:nvSpPr>
        <p:spPr>
          <a:xfrm>
            <a:off x="3547872" y="3090672"/>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47872" y="3291840"/>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47872" y="3493008"/>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47872" y="3694176"/>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547872" y="3895344"/>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47872" y="4096512"/>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547872" y="4297680"/>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47872" y="4498848"/>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547872" y="4700016"/>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547872" y="4901183"/>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547872" y="5102352"/>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547872" y="5303520"/>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547872" y="5504688"/>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547872" y="5705856"/>
            <a:ext cx="100584" cy="100584"/>
          </a:xfrm>
          <a:prstGeom prst="ellipse">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68680" y="3127248"/>
            <a:ext cx="2468880" cy="1417320"/>
          </a:xfrm>
          <a:prstGeom prst="roundRect">
            <a:avLst>
              <a:gd name="adj" fmla="val 8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3218688"/>
            <a:ext cx="2240280" cy="256032"/>
          </a:xfrm>
          <a:prstGeom prst="rect">
            <a:avLst/>
          </a:prstGeom>
          <a:noFill/>
        </p:spPr>
        <p:txBody>
          <a:bodyPr wrap="square" lIns="0" rIns="0" tIns="0" bIns="0"/>
          <a:lstStyle/>
          <a:p>
            <a:pPr algn="l">
              <a:lnSpc>
                <a:spcPct val="108000"/>
              </a:lnSpc>
              <a:spcBef>
                <a:spcPts val="0"/>
              </a:spcBef>
              <a:spcAft>
                <a:spcPts val="0"/>
              </a:spcAft>
            </a:pPr>
            <a:r>
              <a:rPr sz="1000" b="1" i="0" spc="120">
                <a:solidFill>
                  <a:srgbClr val="6B6559"/>
                </a:solidFill>
                <a:latin typeface="Arial"/>
                <a:ea typeface="Arial"/>
                <a:cs typeface="Arial"/>
              </a:rPr>
              <a:t>FIRST FLIGHT</a:t>
            </a:r>
          </a:p>
        </p:txBody>
      </p:sp>
      <p:sp>
        <p:nvSpPr>
          <p:cNvPr id="32" name="TextBox 31"/>
          <p:cNvSpPr txBox="1"/>
          <p:nvPr/>
        </p:nvSpPr>
        <p:spPr>
          <a:xfrm>
            <a:off x="987552" y="3493008"/>
            <a:ext cx="2240280" cy="822960"/>
          </a:xfrm>
          <a:prstGeom prst="rect">
            <a:avLst/>
          </a:prstGeom>
          <a:noFill/>
        </p:spPr>
        <p:txBody>
          <a:bodyPr wrap="square" lIns="0" rIns="0" tIns="0" bIns="0"/>
          <a:lstStyle/>
          <a:p>
            <a:pPr algn="l">
              <a:lnSpc>
                <a:spcPct val="108000"/>
              </a:lnSpc>
              <a:spcBef>
                <a:spcPts val="0"/>
              </a:spcBef>
              <a:spcAft>
                <a:spcPts val="0"/>
              </a:spcAft>
            </a:pPr>
            <a:r>
              <a:rPr sz="2000" b="0" i="0">
                <a:solidFill>
                  <a:srgbClr val="B43A2E"/>
                </a:solidFill>
                <a:latin typeface="Georgia"/>
                <a:ea typeface="Georgia"/>
                <a:cs typeface="Georgia"/>
              </a:rPr>
              <a:t>25-minute</a:t>
            </a:r>
          </a:p>
          <a:p>
            <a:pPr algn="l">
              <a:lnSpc>
                <a:spcPct val="108000"/>
              </a:lnSpc>
              <a:spcBef>
                <a:spcPts val="0"/>
              </a:spcBef>
              <a:spcAft>
                <a:spcPts val="0"/>
              </a:spcAft>
            </a:pPr>
            <a:r>
              <a:rPr sz="2000" b="0" i="0">
                <a:solidFill>
                  <a:srgbClr val="B43A2E"/>
                </a:solidFill>
                <a:latin typeface="Georgia"/>
                <a:ea typeface="Georgia"/>
                <a:cs typeface="Georgia"/>
              </a:rPr>
              <a:t>delay</a:t>
            </a:r>
          </a:p>
        </p:txBody>
      </p:sp>
      <p:sp>
        <p:nvSpPr>
          <p:cNvPr id="33" name="Rounded Rectangle 32"/>
          <p:cNvSpPr/>
          <p:nvPr/>
        </p:nvSpPr>
        <p:spPr>
          <a:xfrm>
            <a:off x="3858768" y="3127248"/>
            <a:ext cx="2542032" cy="1417320"/>
          </a:xfrm>
          <a:prstGeom prst="roundRect">
            <a:avLst>
              <a:gd name="adj" fmla="val 8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77639" y="3218688"/>
            <a:ext cx="2286000" cy="256032"/>
          </a:xfrm>
          <a:prstGeom prst="rect">
            <a:avLst/>
          </a:prstGeom>
          <a:noFill/>
        </p:spPr>
        <p:txBody>
          <a:bodyPr wrap="square" lIns="0" rIns="0" tIns="0" bIns="0"/>
          <a:lstStyle/>
          <a:p>
            <a:pPr algn="l">
              <a:lnSpc>
                <a:spcPct val="108000"/>
              </a:lnSpc>
              <a:spcBef>
                <a:spcPts val="0"/>
              </a:spcBef>
              <a:spcAft>
                <a:spcPts val="0"/>
              </a:spcAft>
            </a:pPr>
            <a:r>
              <a:rPr sz="1000" b="1" i="0" spc="120">
                <a:solidFill>
                  <a:srgbClr val="6B6559"/>
                </a:solidFill>
                <a:latin typeface="Arial"/>
                <a:ea typeface="Arial"/>
                <a:cs typeface="Arial"/>
              </a:rPr>
              <a:t>NEXT FLIGHT</a:t>
            </a:r>
          </a:p>
        </p:txBody>
      </p:sp>
      <p:sp>
        <p:nvSpPr>
          <p:cNvPr id="35" name="TextBox 34"/>
          <p:cNvSpPr txBox="1"/>
          <p:nvPr/>
        </p:nvSpPr>
        <p:spPr>
          <a:xfrm>
            <a:off x="3977639" y="3493008"/>
            <a:ext cx="2286000" cy="640080"/>
          </a:xfrm>
          <a:prstGeom prst="rect">
            <a:avLst/>
          </a:prstGeom>
          <a:noFill/>
        </p:spPr>
        <p:txBody>
          <a:bodyPr wrap="square" lIns="0" rIns="0" tIns="0" bIns="0"/>
          <a:lstStyle/>
          <a:p>
            <a:pPr algn="l">
              <a:lnSpc>
                <a:spcPct val="108000"/>
              </a:lnSpc>
              <a:spcBef>
                <a:spcPts val="0"/>
              </a:spcBef>
              <a:spcAft>
                <a:spcPts val="0"/>
              </a:spcAft>
            </a:pPr>
            <a:r>
              <a:rPr sz="1600" b="0" i="0">
                <a:solidFill>
                  <a:srgbClr val="0C223F"/>
                </a:solidFill>
                <a:latin typeface="Georgia"/>
                <a:ea typeface="Georgia"/>
                <a:cs typeface="Georgia"/>
              </a:rPr>
              <a:t>45 minutes</a:t>
            </a:r>
          </a:p>
          <a:p>
            <a:pPr algn="l">
              <a:lnSpc>
                <a:spcPct val="108000"/>
              </a:lnSpc>
              <a:spcBef>
                <a:spcPts val="0"/>
              </a:spcBef>
              <a:spcAft>
                <a:spcPts val="0"/>
              </a:spcAft>
            </a:pPr>
            <a:r>
              <a:rPr sz="1600" b="0" i="0">
                <a:solidFill>
                  <a:srgbClr val="0C223F"/>
                </a:solidFill>
                <a:latin typeface="Georgia"/>
                <a:ea typeface="Georgia"/>
                <a:cs typeface="Georgia"/>
              </a:rPr>
              <a:t>until boarding closes</a:t>
            </a:r>
          </a:p>
        </p:txBody>
      </p:sp>
      <p:sp>
        <p:nvSpPr>
          <p:cNvPr id="36" name="Rounded Rectangle 35"/>
          <p:cNvSpPr/>
          <p:nvPr/>
        </p:nvSpPr>
        <p:spPr>
          <a:xfrm>
            <a:off x="868680" y="4709160"/>
            <a:ext cx="5532120" cy="1207008"/>
          </a:xfrm>
          <a:prstGeom prst="roundRect">
            <a:avLst>
              <a:gd name="adj" fmla="val 8000"/>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clock-cream.png"/>
          <p:cNvPicPr>
            <a:picLocks noChangeAspect="1"/>
          </p:cNvPicPr>
          <p:nvPr/>
        </p:nvPicPr>
        <p:blipFill>
          <a:blip r:embed="rId2"/>
          <a:stretch>
            <a:fillRect/>
          </a:stretch>
        </p:blipFill>
        <p:spPr>
          <a:xfrm>
            <a:off x="1051560" y="4956048"/>
            <a:ext cx="658368" cy="658368"/>
          </a:xfrm>
          <a:prstGeom prst="rect">
            <a:avLst/>
          </a:prstGeom>
        </p:spPr>
      </p:pic>
      <p:sp>
        <p:nvSpPr>
          <p:cNvPr id="38" name="TextBox 37"/>
          <p:cNvSpPr txBox="1"/>
          <p:nvPr/>
        </p:nvSpPr>
        <p:spPr>
          <a:xfrm>
            <a:off x="1828800" y="4828032"/>
            <a:ext cx="4297680" cy="347472"/>
          </a:xfrm>
          <a:prstGeom prst="rect">
            <a:avLst/>
          </a:prstGeom>
          <a:noFill/>
        </p:spPr>
        <p:txBody>
          <a:bodyPr wrap="square" lIns="0" rIns="0" tIns="0" bIns="0"/>
          <a:lstStyle/>
          <a:p>
            <a:pPr algn="l">
              <a:lnSpc>
                <a:spcPct val="108000"/>
              </a:lnSpc>
              <a:spcBef>
                <a:spcPts val="0"/>
              </a:spcBef>
              <a:spcAft>
                <a:spcPts val="0"/>
              </a:spcAft>
            </a:pPr>
            <a:r>
              <a:rPr sz="1100" b="1" i="0" spc="80">
                <a:solidFill>
                  <a:srgbClr val="C48614"/>
                </a:solidFill>
                <a:latin typeface="Arial"/>
                <a:ea typeface="Arial"/>
                <a:cs typeface="Arial"/>
              </a:rPr>
              <a:t>Smart Connect view</a:t>
            </a:r>
          </a:p>
        </p:txBody>
      </p:sp>
      <p:sp>
        <p:nvSpPr>
          <p:cNvPr id="39" name="TextBox 38"/>
          <p:cNvSpPr txBox="1"/>
          <p:nvPr/>
        </p:nvSpPr>
        <p:spPr>
          <a:xfrm>
            <a:off x="1828800" y="5102352"/>
            <a:ext cx="4297680" cy="640080"/>
          </a:xfrm>
          <a:prstGeom prst="rect">
            <a:avLst/>
          </a:prstGeom>
          <a:noFill/>
        </p:spPr>
        <p:txBody>
          <a:bodyPr wrap="square" lIns="0" rIns="0" tIns="0" bIns="0"/>
          <a:lstStyle/>
          <a:p>
            <a:pPr algn="l">
              <a:lnSpc>
                <a:spcPct val="108000"/>
              </a:lnSpc>
              <a:spcBef>
                <a:spcPts val="0"/>
              </a:spcBef>
              <a:spcAft>
                <a:spcPts val="0"/>
              </a:spcAft>
            </a:pPr>
            <a:r>
              <a:rPr sz="1400" b="0" i="0">
                <a:solidFill>
                  <a:srgbClr val="FFFFFF"/>
                </a:solidFill>
                <a:latin typeface="Arial"/>
                <a:ea typeface="Arial"/>
                <a:cs typeface="Arial"/>
              </a:rPr>
              <a:t>This connection is HIGH RISK.</a:t>
            </a:r>
          </a:p>
          <a:p>
            <a:pPr algn="l">
              <a:lnSpc>
                <a:spcPct val="108000"/>
              </a:lnSpc>
              <a:spcBef>
                <a:spcPts val="0"/>
              </a:spcBef>
              <a:spcAft>
                <a:spcPts val="0"/>
              </a:spcAft>
            </a:pPr>
            <a:r>
              <a:rPr sz="1400" b="0" i="0">
                <a:solidFill>
                  <a:srgbClr val="FFFFFF"/>
                </a:solidFill>
                <a:latin typeface="Arial"/>
                <a:ea typeface="Arial"/>
                <a:cs typeface="Arial"/>
              </a:rPr>
              <a:t>There is still a window to help.</a:t>
            </a:r>
          </a:p>
        </p:txBody>
      </p:sp>
      <p:sp>
        <p:nvSpPr>
          <p:cNvPr id="40" name="TextBox 39"/>
          <p:cNvSpPr txBox="1"/>
          <p:nvPr/>
        </p:nvSpPr>
        <p:spPr>
          <a:xfrm>
            <a:off x="6858000" y="1261872"/>
            <a:ext cx="4709160" cy="274320"/>
          </a:xfrm>
          <a:prstGeom prst="rect">
            <a:avLst/>
          </a:prstGeom>
          <a:noFill/>
        </p:spPr>
        <p:txBody>
          <a:bodyPr wrap="square" lIns="0" rIns="0" tIns="0" bIns="0"/>
          <a:lstStyle/>
          <a:p>
            <a:pPr algn="l">
              <a:lnSpc>
                <a:spcPct val="108000"/>
              </a:lnSpc>
              <a:spcBef>
                <a:spcPts val="0"/>
              </a:spcBef>
              <a:spcAft>
                <a:spcPts val="0"/>
              </a:spcAft>
            </a:pPr>
            <a:r>
              <a:rPr sz="1100" b="1" i="0" spc="160">
                <a:solidFill>
                  <a:srgbClr val="C48614"/>
                </a:solidFill>
                <a:latin typeface="Arial"/>
                <a:ea typeface="Arial"/>
                <a:cs typeface="Arial"/>
              </a:rPr>
              <a:t>EXAMPLES OF POSSIBLE ACTIONS</a:t>
            </a:r>
          </a:p>
        </p:txBody>
      </p:sp>
      <p:sp>
        <p:nvSpPr>
          <p:cNvPr id="41" name="TextBox 40"/>
          <p:cNvSpPr txBox="1"/>
          <p:nvPr/>
        </p:nvSpPr>
        <p:spPr>
          <a:xfrm>
            <a:off x="6858000" y="1536192"/>
            <a:ext cx="4709160" cy="502920"/>
          </a:xfrm>
          <a:prstGeom prst="rect">
            <a:avLst/>
          </a:prstGeom>
          <a:noFill/>
        </p:spPr>
        <p:txBody>
          <a:bodyPr wrap="square" lIns="0" rIns="0" tIns="0" bIns="0"/>
          <a:lstStyle/>
          <a:p>
            <a:pPr algn="l">
              <a:lnSpc>
                <a:spcPct val="108000"/>
              </a:lnSpc>
              <a:spcBef>
                <a:spcPts val="0"/>
              </a:spcBef>
              <a:spcAft>
                <a:spcPts val="0"/>
              </a:spcAft>
            </a:pPr>
            <a:r>
              <a:rPr sz="1200" b="0" i="1">
                <a:solidFill>
                  <a:srgbClr val="6B6559"/>
                </a:solidFill>
                <a:latin typeface="Arial"/>
                <a:ea typeface="Arial"/>
                <a:cs typeface="Arial"/>
              </a:rPr>
              <a:t>These are options the airport could take — not automatic or guaranteed actions.</a:t>
            </a:r>
          </a:p>
        </p:txBody>
      </p:sp>
      <p:sp>
        <p:nvSpPr>
          <p:cNvPr id="42" name="Rounded Rectangle 41"/>
          <p:cNvSpPr/>
          <p:nvPr/>
        </p:nvSpPr>
        <p:spPr>
          <a:xfrm>
            <a:off x="6858000" y="2148840"/>
            <a:ext cx="4709160" cy="868680"/>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route-navy.png"/>
          <p:cNvPicPr>
            <a:picLocks noChangeAspect="1"/>
          </p:cNvPicPr>
          <p:nvPr/>
        </p:nvPicPr>
        <p:blipFill>
          <a:blip r:embed="rId3"/>
          <a:stretch>
            <a:fillRect/>
          </a:stretch>
        </p:blipFill>
        <p:spPr>
          <a:xfrm>
            <a:off x="7022592" y="2313432"/>
            <a:ext cx="530352" cy="530352"/>
          </a:xfrm>
          <a:prstGeom prst="rect">
            <a:avLst/>
          </a:prstGeom>
        </p:spPr>
      </p:pic>
      <p:sp>
        <p:nvSpPr>
          <p:cNvPr id="44" name="TextBox 43"/>
          <p:cNvSpPr txBox="1"/>
          <p:nvPr/>
        </p:nvSpPr>
        <p:spPr>
          <a:xfrm>
            <a:off x="7680960" y="2148840"/>
            <a:ext cx="3703320" cy="868680"/>
          </a:xfrm>
          <a:prstGeom prst="rect">
            <a:avLst/>
          </a:prstGeom>
          <a:noFill/>
        </p:spPr>
        <p:txBody>
          <a:bodyPr wrap="square" lIns="0" rIns="0" tIns="0" bIns="0"/>
          <a:lstStyle/>
          <a:p>
            <a:pPr algn="l">
              <a:lnSpc>
                <a:spcPct val="108000"/>
              </a:lnSpc>
              <a:spcBef>
                <a:spcPts val="0"/>
              </a:spcBef>
              <a:spcAft>
                <a:spcPts val="0"/>
              </a:spcAft>
            </a:pPr>
            <a:r>
              <a:rPr sz="1400" b="0" i="0">
                <a:solidFill>
                  <a:srgbClr val="0C223F"/>
                </a:solidFill>
                <a:latin typeface="Arial"/>
                <a:ea typeface="Arial"/>
                <a:cs typeface="Arial"/>
              </a:rPr>
              <a:t>Guide the passenger through the fastest available route</a:t>
            </a:r>
          </a:p>
        </p:txBody>
      </p:sp>
      <p:sp>
        <p:nvSpPr>
          <p:cNvPr id="45" name="Rounded Rectangle 44"/>
          <p:cNvSpPr/>
          <p:nvPr/>
        </p:nvSpPr>
        <p:spPr>
          <a:xfrm>
            <a:off x="6858000" y="3108960"/>
            <a:ext cx="4709160" cy="868680"/>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gate-navy.png"/>
          <p:cNvPicPr>
            <a:picLocks noChangeAspect="1"/>
          </p:cNvPicPr>
          <p:nvPr/>
        </p:nvPicPr>
        <p:blipFill>
          <a:blip r:embed="rId4"/>
          <a:stretch>
            <a:fillRect/>
          </a:stretch>
        </p:blipFill>
        <p:spPr>
          <a:xfrm>
            <a:off x="7022592" y="3273552"/>
            <a:ext cx="530352" cy="530352"/>
          </a:xfrm>
          <a:prstGeom prst="rect">
            <a:avLst/>
          </a:prstGeom>
        </p:spPr>
      </p:pic>
      <p:sp>
        <p:nvSpPr>
          <p:cNvPr id="47" name="TextBox 46"/>
          <p:cNvSpPr txBox="1"/>
          <p:nvPr/>
        </p:nvSpPr>
        <p:spPr>
          <a:xfrm>
            <a:off x="7680960" y="3108960"/>
            <a:ext cx="3703320" cy="868680"/>
          </a:xfrm>
          <a:prstGeom prst="rect">
            <a:avLst/>
          </a:prstGeom>
          <a:noFill/>
        </p:spPr>
        <p:txBody>
          <a:bodyPr wrap="square" lIns="0" rIns="0" tIns="0" bIns="0"/>
          <a:lstStyle/>
          <a:p>
            <a:pPr algn="l">
              <a:lnSpc>
                <a:spcPct val="108000"/>
              </a:lnSpc>
              <a:spcBef>
                <a:spcPts val="0"/>
              </a:spcBef>
              <a:spcAft>
                <a:spcPts val="0"/>
              </a:spcAft>
            </a:pPr>
            <a:r>
              <a:rPr sz="1400" b="0" i="0">
                <a:solidFill>
                  <a:srgbClr val="0C223F"/>
                </a:solidFill>
                <a:latin typeface="Arial"/>
                <a:ea typeface="Arial"/>
                <a:cs typeface="Arial"/>
              </a:rPr>
              <a:t>Inform the connecting gate</a:t>
            </a:r>
          </a:p>
        </p:txBody>
      </p:sp>
      <p:sp>
        <p:nvSpPr>
          <p:cNvPr id="48" name="Rounded Rectangle 47"/>
          <p:cNvSpPr/>
          <p:nvPr/>
        </p:nvSpPr>
        <p:spPr>
          <a:xfrm>
            <a:off x="6858000" y="4069080"/>
            <a:ext cx="4709160" cy="868680"/>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staff-navy.png"/>
          <p:cNvPicPr>
            <a:picLocks noChangeAspect="1"/>
          </p:cNvPicPr>
          <p:nvPr/>
        </p:nvPicPr>
        <p:blipFill>
          <a:blip r:embed="rId5"/>
          <a:stretch>
            <a:fillRect/>
          </a:stretch>
        </p:blipFill>
        <p:spPr>
          <a:xfrm>
            <a:off x="7022592" y="4233672"/>
            <a:ext cx="530352" cy="530352"/>
          </a:xfrm>
          <a:prstGeom prst="rect">
            <a:avLst/>
          </a:prstGeom>
        </p:spPr>
      </p:pic>
      <p:sp>
        <p:nvSpPr>
          <p:cNvPr id="50" name="TextBox 49"/>
          <p:cNvSpPr txBox="1"/>
          <p:nvPr/>
        </p:nvSpPr>
        <p:spPr>
          <a:xfrm>
            <a:off x="7680960" y="4069080"/>
            <a:ext cx="3703320" cy="868680"/>
          </a:xfrm>
          <a:prstGeom prst="rect">
            <a:avLst/>
          </a:prstGeom>
          <a:noFill/>
        </p:spPr>
        <p:txBody>
          <a:bodyPr wrap="square" lIns="0" rIns="0" tIns="0" bIns="0"/>
          <a:lstStyle/>
          <a:p>
            <a:pPr algn="l">
              <a:lnSpc>
                <a:spcPct val="108000"/>
              </a:lnSpc>
              <a:spcBef>
                <a:spcPts val="0"/>
              </a:spcBef>
              <a:spcAft>
                <a:spcPts val="0"/>
              </a:spcAft>
            </a:pPr>
            <a:r>
              <a:rPr sz="1400" b="0" i="0">
                <a:solidFill>
                  <a:srgbClr val="0C223F"/>
                </a:solidFill>
                <a:latin typeface="Arial"/>
                <a:ea typeface="Arial"/>
                <a:cs typeface="Arial"/>
              </a:rPr>
              <a:t>Alert relevant airport staff</a:t>
            </a:r>
          </a:p>
        </p:txBody>
      </p:sp>
      <p:sp>
        <p:nvSpPr>
          <p:cNvPr id="51" name="Rounded Rectangle 50"/>
          <p:cNvSpPr/>
          <p:nvPr/>
        </p:nvSpPr>
        <p:spPr>
          <a:xfrm>
            <a:off x="6858000" y="5029200"/>
            <a:ext cx="4709160" cy="868680"/>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baggage-navy.png"/>
          <p:cNvPicPr>
            <a:picLocks noChangeAspect="1"/>
          </p:cNvPicPr>
          <p:nvPr/>
        </p:nvPicPr>
        <p:blipFill>
          <a:blip r:embed="rId6"/>
          <a:stretch>
            <a:fillRect/>
          </a:stretch>
        </p:blipFill>
        <p:spPr>
          <a:xfrm>
            <a:off x="7022592" y="5193792"/>
            <a:ext cx="530352" cy="530352"/>
          </a:xfrm>
          <a:prstGeom prst="rect">
            <a:avLst/>
          </a:prstGeom>
        </p:spPr>
      </p:pic>
      <p:sp>
        <p:nvSpPr>
          <p:cNvPr id="53" name="TextBox 52"/>
          <p:cNvSpPr txBox="1"/>
          <p:nvPr/>
        </p:nvSpPr>
        <p:spPr>
          <a:xfrm>
            <a:off x="7680960" y="5029200"/>
            <a:ext cx="3703320" cy="868680"/>
          </a:xfrm>
          <a:prstGeom prst="rect">
            <a:avLst/>
          </a:prstGeom>
          <a:noFill/>
        </p:spPr>
        <p:txBody>
          <a:bodyPr wrap="square" lIns="0" rIns="0" tIns="0" bIns="0"/>
          <a:lstStyle/>
          <a:p>
            <a:pPr algn="l">
              <a:lnSpc>
                <a:spcPct val="108000"/>
              </a:lnSpc>
              <a:spcBef>
                <a:spcPts val="0"/>
              </a:spcBef>
              <a:spcAft>
                <a:spcPts val="0"/>
              </a:spcAft>
            </a:pPr>
            <a:r>
              <a:rPr sz="1400" b="0" i="0">
                <a:solidFill>
                  <a:srgbClr val="0C223F"/>
                </a:solidFill>
                <a:latin typeface="Arial"/>
                <a:ea typeface="Arial"/>
                <a:cs typeface="Arial"/>
              </a:rPr>
              <a:t>Check or prioritize baggage where operationally possible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510528"/>
            <a:ext cx="7772400" cy="256032"/>
          </a:xfrm>
          <a:prstGeom prst="rect">
            <a:avLst/>
          </a:prstGeom>
          <a:noFill/>
        </p:spPr>
        <p:txBody>
          <a:bodyPr wrap="square" lIns="0" rIns="0" tIns="0" bIns="0"/>
          <a:lstStyle/>
          <a:p>
            <a:pPr algn="l">
              <a:lnSpc>
                <a:spcPct val="108000"/>
              </a:lnSpc>
              <a:spcBef>
                <a:spcPts val="0"/>
              </a:spcBef>
              <a:spcAft>
                <a:spcPts val="0"/>
              </a:spcAft>
            </a:pPr>
            <a:r>
              <a:rPr sz="1000" b="0" i="0" spc="80">
                <a:solidFill>
                  <a:srgbClr val="6B6559"/>
                </a:solidFill>
                <a:latin typeface="Arial"/>
                <a:ea typeface="Arial"/>
                <a:cs typeface="Arial"/>
              </a:rPr>
              <a:t>SMART CONNECT   ·   Innovation idea for discussion</a:t>
            </a:r>
          </a:p>
        </p:txBody>
      </p:sp>
      <p:sp>
        <p:nvSpPr>
          <p:cNvPr id="5" name="TextBox 4"/>
          <p:cNvSpPr txBox="1"/>
          <p:nvPr/>
        </p:nvSpPr>
        <p:spPr>
          <a:xfrm>
            <a:off x="10378440" y="6492240"/>
            <a:ext cx="1234440" cy="274320"/>
          </a:xfrm>
          <a:prstGeom prst="rect">
            <a:avLst/>
          </a:prstGeom>
          <a:noFill/>
        </p:spPr>
        <p:txBody>
          <a:bodyPr wrap="square" lIns="0" rIns="0" tIns="0" bIns="0"/>
          <a:lstStyle/>
          <a:p>
            <a:pPr algn="r">
              <a:lnSpc>
                <a:spcPct val="108000"/>
              </a:lnSpc>
              <a:spcBef>
                <a:spcPts val="0"/>
              </a:spcBef>
              <a:spcAft>
                <a:spcPts val="0"/>
              </a:spcAft>
            </a:pPr>
            <a:r>
              <a:rPr sz="1400" b="0" i="0">
                <a:solidFill>
                  <a:srgbClr val="0C223F"/>
                </a:solidFill>
                <a:latin typeface="Georgia"/>
                <a:ea typeface="Georgia"/>
                <a:cs typeface="Georgia"/>
              </a:rPr>
              <a:t>06</a:t>
            </a:r>
          </a:p>
        </p:txBody>
      </p:sp>
      <p:sp>
        <p:nvSpPr>
          <p:cNvPr id="6" name="TextBox 5"/>
          <p:cNvSpPr txBox="1"/>
          <p:nvPr/>
        </p:nvSpPr>
        <p:spPr>
          <a:xfrm>
            <a:off x="640080" y="256032"/>
            <a:ext cx="7315200" cy="256032"/>
          </a:xfrm>
          <a:prstGeom prst="rect">
            <a:avLst/>
          </a:prstGeom>
          <a:noFill/>
        </p:spPr>
        <p:txBody>
          <a:bodyPr wrap="square" lIns="0" rIns="0" tIns="0" bIns="0"/>
          <a:lstStyle/>
          <a:p>
            <a:pPr algn="l">
              <a:lnSpc>
                <a:spcPct val="108000"/>
              </a:lnSpc>
              <a:spcBef>
                <a:spcPts val="0"/>
              </a:spcBef>
              <a:spcAft>
                <a:spcPts val="0"/>
              </a:spcAft>
            </a:pPr>
            <a:r>
              <a:rPr sz="1100" b="1" i="0" spc="280">
                <a:solidFill>
                  <a:srgbClr val="C48614"/>
                </a:solidFill>
                <a:latin typeface="Arial"/>
                <a:ea typeface="Arial"/>
                <a:cs typeface="Arial"/>
              </a:rPr>
              <a:t>WHAT MAKES THE IDEA DIFFERENT?</a:t>
            </a:r>
          </a:p>
        </p:txBody>
      </p:sp>
      <p:sp>
        <p:nvSpPr>
          <p:cNvPr id="7" name="TextBox 6"/>
          <p:cNvSpPr txBox="1"/>
          <p:nvPr/>
        </p:nvSpPr>
        <p:spPr>
          <a:xfrm>
            <a:off x="640080" y="475488"/>
            <a:ext cx="10789920" cy="640080"/>
          </a:xfrm>
          <a:prstGeom prst="rect">
            <a:avLst/>
          </a:prstGeom>
          <a:noFill/>
        </p:spPr>
        <p:txBody>
          <a:bodyPr wrap="square" lIns="0" rIns="0" tIns="0" bIns="0"/>
          <a:lstStyle/>
          <a:p>
            <a:pPr algn="l">
              <a:lnSpc>
                <a:spcPct val="108000"/>
              </a:lnSpc>
              <a:spcBef>
                <a:spcPts val="0"/>
              </a:spcBef>
              <a:spcAft>
                <a:spcPts val="0"/>
              </a:spcAft>
            </a:pPr>
            <a:r>
              <a:rPr sz="3000" b="0" i="0">
                <a:solidFill>
                  <a:srgbClr val="0C223F"/>
                </a:solidFill>
                <a:latin typeface="Georgia"/>
                <a:ea typeface="Georgia"/>
                <a:cs typeface="Georgia"/>
              </a:rPr>
              <a:t>Help before the connection is missed</a:t>
            </a:r>
          </a:p>
        </p:txBody>
      </p:sp>
      <p:sp>
        <p:nvSpPr>
          <p:cNvPr id="8" name="Rounded Rectangle 7"/>
          <p:cNvSpPr/>
          <p:nvPr/>
        </p:nvSpPr>
        <p:spPr>
          <a:xfrm>
            <a:off x="640080" y="1280160"/>
            <a:ext cx="5349240" cy="2606040"/>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417320"/>
            <a:ext cx="4937760" cy="256032"/>
          </a:xfrm>
          <a:prstGeom prst="rect">
            <a:avLst/>
          </a:prstGeom>
          <a:noFill/>
        </p:spPr>
        <p:txBody>
          <a:bodyPr wrap="square" lIns="0" rIns="0" tIns="0" bIns="0"/>
          <a:lstStyle/>
          <a:p>
            <a:pPr algn="l">
              <a:lnSpc>
                <a:spcPct val="108000"/>
              </a:lnSpc>
              <a:spcBef>
                <a:spcPts val="0"/>
              </a:spcBef>
              <a:spcAft>
                <a:spcPts val="0"/>
              </a:spcAft>
            </a:pPr>
            <a:r>
              <a:rPr sz="1100" b="1" i="0" spc="180">
                <a:solidFill>
                  <a:srgbClr val="6B6559"/>
                </a:solidFill>
                <a:latin typeface="Arial"/>
                <a:ea typeface="Arial"/>
                <a:cs typeface="Arial"/>
              </a:rPr>
              <a:t>TRADITIONAL APPROACH</a:t>
            </a:r>
          </a:p>
        </p:txBody>
      </p:sp>
      <p:sp>
        <p:nvSpPr>
          <p:cNvPr id="10" name="TextBox 9"/>
          <p:cNvSpPr txBox="1"/>
          <p:nvPr/>
        </p:nvSpPr>
        <p:spPr>
          <a:xfrm>
            <a:off x="868680" y="1783080"/>
            <a:ext cx="4937760" cy="1051560"/>
          </a:xfrm>
          <a:prstGeom prst="rect">
            <a:avLst/>
          </a:prstGeom>
          <a:noFill/>
        </p:spPr>
        <p:txBody>
          <a:bodyPr wrap="square" lIns="0" rIns="0" tIns="0" bIns="0"/>
          <a:lstStyle/>
          <a:p>
            <a:pPr algn="l">
              <a:lnSpc>
                <a:spcPct val="108000"/>
              </a:lnSpc>
              <a:spcBef>
                <a:spcPts val="0"/>
              </a:spcBef>
              <a:spcAft>
                <a:spcPts val="0"/>
              </a:spcAft>
            </a:pPr>
            <a:r>
              <a:rPr sz="2000" b="0" i="0">
                <a:solidFill>
                  <a:srgbClr val="2A2824"/>
                </a:solidFill>
                <a:latin typeface="Georgia"/>
                <a:ea typeface="Georgia"/>
                <a:cs typeface="Georgia"/>
              </a:rPr>
              <a:t>Passenger misses the connection.</a:t>
            </a:r>
          </a:p>
          <a:p>
            <a:pPr algn="l">
              <a:lnSpc>
                <a:spcPct val="108000"/>
              </a:lnSpc>
              <a:spcBef>
                <a:spcPts val="0"/>
              </a:spcBef>
              <a:spcAft>
                <a:spcPts val="0"/>
              </a:spcAft>
            </a:pPr>
            <a:r>
              <a:rPr sz="2000" b="0" i="0">
                <a:solidFill>
                  <a:srgbClr val="2A2824"/>
                </a:solidFill>
                <a:latin typeface="Georgia"/>
                <a:ea typeface="Georgia"/>
                <a:cs typeface="Georgia"/>
              </a:rPr>
              <a:t>The problem is handled afterwards.</a:t>
            </a:r>
          </a:p>
        </p:txBody>
      </p:sp>
      <p:sp>
        <p:nvSpPr>
          <p:cNvPr id="11" name="Rectangle 10"/>
          <p:cNvSpPr/>
          <p:nvPr/>
        </p:nvSpPr>
        <p:spPr>
          <a:xfrm>
            <a:off x="868680" y="3017520"/>
            <a:ext cx="4892040" cy="73152"/>
          </a:xfrm>
          <a:prstGeom prst="rect">
            <a:avLst/>
          </a:prstGeom>
          <a:solidFill>
            <a:srgbClr val="DDD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182112"/>
            <a:ext cx="4937760" cy="457200"/>
          </a:xfrm>
          <a:prstGeom prst="rect">
            <a:avLst/>
          </a:prstGeom>
          <a:noFill/>
        </p:spPr>
        <p:txBody>
          <a:bodyPr wrap="square" lIns="0" rIns="0" tIns="0" bIns="0"/>
          <a:lstStyle/>
          <a:p>
            <a:pPr algn="l">
              <a:lnSpc>
                <a:spcPct val="108000"/>
              </a:lnSpc>
              <a:spcBef>
                <a:spcPts val="0"/>
              </a:spcBef>
              <a:spcAft>
                <a:spcPts val="0"/>
              </a:spcAft>
            </a:pPr>
            <a:r>
              <a:rPr sz="1400" b="0" i="1">
                <a:solidFill>
                  <a:srgbClr val="6B6559"/>
                </a:solidFill>
                <a:latin typeface="Arial"/>
                <a:ea typeface="Arial"/>
                <a:cs typeface="Arial"/>
              </a:rPr>
              <a:t>React when it is already too late.</a:t>
            </a:r>
          </a:p>
        </p:txBody>
      </p:sp>
      <p:sp>
        <p:nvSpPr>
          <p:cNvPr id="13" name="Rounded Rectangle 12"/>
          <p:cNvSpPr/>
          <p:nvPr/>
        </p:nvSpPr>
        <p:spPr>
          <a:xfrm>
            <a:off x="6217920" y="1280160"/>
            <a:ext cx="5349240" cy="2606040"/>
          </a:xfrm>
          <a:prstGeom prst="roundRect">
            <a:avLst>
              <a:gd name="adj" fmla="val 8000"/>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417320"/>
            <a:ext cx="4937760" cy="256032"/>
          </a:xfrm>
          <a:prstGeom prst="rect">
            <a:avLst/>
          </a:prstGeom>
          <a:noFill/>
        </p:spPr>
        <p:txBody>
          <a:bodyPr wrap="square" lIns="0" rIns="0" tIns="0" bIns="0"/>
          <a:lstStyle/>
          <a:p>
            <a:pPr algn="l">
              <a:lnSpc>
                <a:spcPct val="108000"/>
              </a:lnSpc>
              <a:spcBef>
                <a:spcPts val="0"/>
              </a:spcBef>
              <a:spcAft>
                <a:spcPts val="0"/>
              </a:spcAft>
            </a:pPr>
            <a:r>
              <a:rPr sz="1100" b="1" i="0" spc="180">
                <a:solidFill>
                  <a:srgbClr val="C48614"/>
                </a:solidFill>
                <a:latin typeface="Arial"/>
                <a:ea typeface="Arial"/>
                <a:cs typeface="Arial"/>
              </a:rPr>
              <a:t>SMART CONNECT</a:t>
            </a:r>
          </a:p>
        </p:txBody>
      </p:sp>
      <p:sp>
        <p:nvSpPr>
          <p:cNvPr id="15" name="TextBox 14"/>
          <p:cNvSpPr txBox="1"/>
          <p:nvPr/>
        </p:nvSpPr>
        <p:spPr>
          <a:xfrm>
            <a:off x="6446520" y="1783080"/>
            <a:ext cx="4937760" cy="1051560"/>
          </a:xfrm>
          <a:prstGeom prst="rect">
            <a:avLst/>
          </a:prstGeom>
          <a:noFill/>
        </p:spPr>
        <p:txBody>
          <a:bodyPr wrap="square" lIns="0" rIns="0" tIns="0" bIns="0"/>
          <a:lstStyle/>
          <a:p>
            <a:pPr algn="l">
              <a:lnSpc>
                <a:spcPct val="108000"/>
              </a:lnSpc>
              <a:spcBef>
                <a:spcPts val="0"/>
              </a:spcBef>
              <a:spcAft>
                <a:spcPts val="0"/>
              </a:spcAft>
            </a:pPr>
            <a:r>
              <a:rPr sz="1800" b="0" i="0">
                <a:solidFill>
                  <a:srgbClr val="FFFFFF"/>
                </a:solidFill>
                <a:latin typeface="Georgia"/>
                <a:ea typeface="Georgia"/>
                <a:cs typeface="Georgia"/>
              </a:rPr>
              <a:t>Risk is identified earlier.</a:t>
            </a:r>
          </a:p>
          <a:p>
            <a:pPr algn="l">
              <a:lnSpc>
                <a:spcPct val="108000"/>
              </a:lnSpc>
              <a:spcBef>
                <a:spcPts val="0"/>
              </a:spcBef>
              <a:spcAft>
                <a:spcPts val="0"/>
              </a:spcAft>
            </a:pPr>
            <a:r>
              <a:rPr sz="1800" b="0" i="0">
                <a:solidFill>
                  <a:srgbClr val="FFFFFF"/>
                </a:solidFill>
                <a:latin typeface="Georgia"/>
                <a:ea typeface="Georgia"/>
                <a:cs typeface="Georgia"/>
              </a:rPr>
              <a:t>The airport has a chance to help before the connection is missed.</a:t>
            </a:r>
          </a:p>
        </p:txBody>
      </p:sp>
      <p:sp>
        <p:nvSpPr>
          <p:cNvPr id="16" name="Rectangle 15"/>
          <p:cNvSpPr/>
          <p:nvPr/>
        </p:nvSpPr>
        <p:spPr>
          <a:xfrm>
            <a:off x="6446520" y="3017520"/>
            <a:ext cx="4892040" cy="73152"/>
          </a:xfrm>
          <a:prstGeom prst="rect">
            <a:avLst/>
          </a:prstGeom>
          <a:solidFill>
            <a:srgbClr val="2A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182112"/>
            <a:ext cx="4937760" cy="457200"/>
          </a:xfrm>
          <a:prstGeom prst="rect">
            <a:avLst/>
          </a:prstGeom>
          <a:noFill/>
        </p:spPr>
        <p:txBody>
          <a:bodyPr wrap="square" lIns="0" rIns="0" tIns="0" bIns="0"/>
          <a:lstStyle/>
          <a:p>
            <a:pPr algn="l">
              <a:lnSpc>
                <a:spcPct val="108000"/>
              </a:lnSpc>
              <a:spcBef>
                <a:spcPts val="0"/>
              </a:spcBef>
              <a:spcAft>
                <a:spcPts val="0"/>
              </a:spcAft>
            </a:pPr>
            <a:r>
              <a:rPr sz="1400" b="0" i="1">
                <a:solidFill>
                  <a:srgbClr val="F4E6C4"/>
                </a:solidFill>
                <a:latin typeface="Arial"/>
                <a:ea typeface="Arial"/>
                <a:cs typeface="Arial"/>
              </a:rPr>
              <a:t>Act while there is still time.</a:t>
            </a:r>
          </a:p>
        </p:txBody>
      </p:sp>
      <p:sp>
        <p:nvSpPr>
          <p:cNvPr id="18" name="Rounded Rectangle 17"/>
          <p:cNvSpPr/>
          <p:nvPr/>
        </p:nvSpPr>
        <p:spPr>
          <a:xfrm>
            <a:off x="640080" y="4069080"/>
            <a:ext cx="6903720" cy="1874519"/>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187952"/>
            <a:ext cx="6492240" cy="256032"/>
          </a:xfrm>
          <a:prstGeom prst="rect">
            <a:avLst/>
          </a:prstGeom>
          <a:noFill/>
        </p:spPr>
        <p:txBody>
          <a:bodyPr wrap="square" lIns="0" rIns="0" tIns="0" bIns="0"/>
          <a:lstStyle/>
          <a:p>
            <a:pPr algn="l">
              <a:lnSpc>
                <a:spcPct val="108000"/>
              </a:lnSpc>
              <a:spcBef>
                <a:spcPts val="0"/>
              </a:spcBef>
              <a:spcAft>
                <a:spcPts val="0"/>
              </a:spcAft>
            </a:pPr>
            <a:r>
              <a:rPr sz="1100" b="1" i="0" spc="160">
                <a:solidFill>
                  <a:srgbClr val="C48614"/>
                </a:solidFill>
                <a:latin typeface="Arial"/>
                <a:ea typeface="Arial"/>
                <a:cs typeface="Arial"/>
              </a:rPr>
              <a:t>ONE THING TO REMEMBER</a:t>
            </a:r>
          </a:p>
        </p:txBody>
      </p:sp>
      <p:sp>
        <p:nvSpPr>
          <p:cNvPr id="20" name="TextBox 19"/>
          <p:cNvSpPr txBox="1"/>
          <p:nvPr/>
        </p:nvSpPr>
        <p:spPr>
          <a:xfrm>
            <a:off x="868680" y="4526280"/>
            <a:ext cx="6492240" cy="1143000"/>
          </a:xfrm>
          <a:prstGeom prst="rect">
            <a:avLst/>
          </a:prstGeom>
          <a:noFill/>
        </p:spPr>
        <p:txBody>
          <a:bodyPr wrap="square" lIns="0" rIns="0" tIns="0" bIns="0"/>
          <a:lstStyle/>
          <a:p>
            <a:pPr algn="l">
              <a:lnSpc>
                <a:spcPct val="108000"/>
              </a:lnSpc>
              <a:spcBef>
                <a:spcPts val="0"/>
              </a:spcBef>
              <a:spcAft>
                <a:spcPts val="0"/>
              </a:spcAft>
            </a:pPr>
            <a:r>
              <a:rPr sz="2000" b="0" i="1">
                <a:solidFill>
                  <a:srgbClr val="0C223F"/>
                </a:solidFill>
                <a:latin typeface="Georgia"/>
                <a:ea typeface="Georgia"/>
                <a:cs typeface="Georgia"/>
              </a:rPr>
              <a:t>Don’t wait for the passenger to miss the flight.</a:t>
            </a:r>
          </a:p>
          <a:p>
            <a:pPr algn="l">
              <a:lnSpc>
                <a:spcPct val="108000"/>
              </a:lnSpc>
              <a:spcBef>
                <a:spcPts val="0"/>
              </a:spcBef>
              <a:spcAft>
                <a:spcPts val="0"/>
              </a:spcAft>
            </a:pPr>
            <a:r>
              <a:rPr sz="2000" b="0" i="1">
                <a:solidFill>
                  <a:srgbClr val="0C223F"/>
                </a:solidFill>
                <a:latin typeface="Georgia"/>
                <a:ea typeface="Georgia"/>
                <a:cs typeface="Georgia"/>
              </a:rPr>
              <a:t>Identify the risk early.</a:t>
            </a:r>
          </a:p>
        </p:txBody>
      </p:sp>
      <p:sp>
        <p:nvSpPr>
          <p:cNvPr id="21" name="Rounded Rectangle 20"/>
          <p:cNvSpPr/>
          <p:nvPr/>
        </p:nvSpPr>
        <p:spPr>
          <a:xfrm>
            <a:off x="7726679" y="4069080"/>
            <a:ext cx="3840480" cy="1874519"/>
          </a:xfrm>
          <a:prstGeom prst="roundRect">
            <a:avLst>
              <a:gd name="adj" fmla="val 8000"/>
            </a:avLst>
          </a:prstGeom>
          <a:solidFill>
            <a:srgbClr val="1E6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79" y="4187952"/>
            <a:ext cx="3429000" cy="256032"/>
          </a:xfrm>
          <a:prstGeom prst="rect">
            <a:avLst/>
          </a:prstGeom>
          <a:noFill/>
        </p:spPr>
        <p:txBody>
          <a:bodyPr wrap="square" lIns="0" rIns="0" tIns="0" bIns="0"/>
          <a:lstStyle/>
          <a:p>
            <a:pPr algn="l">
              <a:lnSpc>
                <a:spcPct val="108000"/>
              </a:lnSpc>
              <a:spcBef>
                <a:spcPts val="0"/>
              </a:spcBef>
              <a:spcAft>
                <a:spcPts val="0"/>
              </a:spcAft>
            </a:pPr>
            <a:r>
              <a:rPr sz="1100" b="1" i="0" spc="120">
                <a:solidFill>
                  <a:srgbClr val="F4E6C4"/>
                </a:solidFill>
                <a:latin typeface="Arial"/>
                <a:ea typeface="Arial"/>
                <a:cs typeface="Arial"/>
              </a:rPr>
              <a:t>AND KEEP BOTH IN VIEW</a:t>
            </a:r>
          </a:p>
        </p:txBody>
      </p:sp>
      <p:pic>
        <p:nvPicPr>
          <p:cNvPr id="23" name="Picture 22" descr="passenger-cream.png"/>
          <p:cNvPicPr>
            <a:picLocks noChangeAspect="1"/>
          </p:cNvPicPr>
          <p:nvPr/>
        </p:nvPicPr>
        <p:blipFill>
          <a:blip r:embed="rId2"/>
          <a:stretch>
            <a:fillRect/>
          </a:stretch>
        </p:blipFill>
        <p:spPr>
          <a:xfrm>
            <a:off x="7955279" y="4572000"/>
            <a:ext cx="502920" cy="502920"/>
          </a:xfrm>
          <a:prstGeom prst="rect">
            <a:avLst/>
          </a:prstGeom>
        </p:spPr>
      </p:pic>
      <p:pic>
        <p:nvPicPr>
          <p:cNvPr id="24" name="Picture 23" descr="baggage-cream.png"/>
          <p:cNvPicPr>
            <a:picLocks noChangeAspect="1"/>
          </p:cNvPicPr>
          <p:nvPr/>
        </p:nvPicPr>
        <p:blipFill>
          <a:blip r:embed="rId3"/>
          <a:stretch>
            <a:fillRect/>
          </a:stretch>
        </p:blipFill>
        <p:spPr>
          <a:xfrm>
            <a:off x="8549640" y="4572000"/>
            <a:ext cx="502920" cy="502920"/>
          </a:xfrm>
          <a:prstGeom prst="rect">
            <a:avLst/>
          </a:prstGeom>
        </p:spPr>
      </p:pic>
      <p:sp>
        <p:nvSpPr>
          <p:cNvPr id="25" name="TextBox 24"/>
          <p:cNvSpPr txBox="1"/>
          <p:nvPr/>
        </p:nvSpPr>
        <p:spPr>
          <a:xfrm>
            <a:off x="7955279" y="5102352"/>
            <a:ext cx="3429000" cy="640080"/>
          </a:xfrm>
          <a:prstGeom prst="rect">
            <a:avLst/>
          </a:prstGeom>
          <a:noFill/>
        </p:spPr>
        <p:txBody>
          <a:bodyPr wrap="square" lIns="0" rIns="0" tIns="0" bIns="0"/>
          <a:lstStyle/>
          <a:p>
            <a:pPr algn="l">
              <a:lnSpc>
                <a:spcPct val="108000"/>
              </a:lnSpc>
              <a:spcBef>
                <a:spcPts val="0"/>
              </a:spcBef>
              <a:spcAft>
                <a:spcPts val="0"/>
              </a:spcAft>
            </a:pPr>
            <a:r>
              <a:rPr sz="1300" b="0" i="0">
                <a:solidFill>
                  <a:srgbClr val="FFFFFF"/>
                </a:solidFill>
                <a:latin typeface="Arial"/>
                <a:ea typeface="Arial"/>
                <a:cs typeface="Arial"/>
              </a:rPr>
              <a:t>Passenger + baggage</a:t>
            </a:r>
          </a:p>
          <a:p>
            <a:pPr algn="l">
              <a:lnSpc>
                <a:spcPct val="108000"/>
              </a:lnSpc>
              <a:spcBef>
                <a:spcPts val="0"/>
              </a:spcBef>
              <a:spcAft>
                <a:spcPts val="0"/>
              </a:spcAft>
            </a:pPr>
            <a:r>
              <a:rPr sz="1300" b="0" i="0">
                <a:solidFill>
                  <a:srgbClr val="FFFFFF"/>
                </a:solidFill>
                <a:latin typeface="Arial"/>
                <a:ea typeface="Arial"/>
                <a:cs typeface="Arial"/>
              </a:rPr>
              <a:t>Sometimes the person makes it. The bag does not.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510528"/>
            <a:ext cx="7772400" cy="256032"/>
          </a:xfrm>
          <a:prstGeom prst="rect">
            <a:avLst/>
          </a:prstGeom>
          <a:noFill/>
        </p:spPr>
        <p:txBody>
          <a:bodyPr wrap="square" lIns="0" rIns="0" tIns="0" bIns="0"/>
          <a:lstStyle/>
          <a:p>
            <a:pPr algn="l">
              <a:lnSpc>
                <a:spcPct val="108000"/>
              </a:lnSpc>
              <a:spcBef>
                <a:spcPts val="0"/>
              </a:spcBef>
              <a:spcAft>
                <a:spcPts val="0"/>
              </a:spcAft>
            </a:pPr>
            <a:r>
              <a:rPr sz="1000" b="0" i="0" spc="80">
                <a:solidFill>
                  <a:srgbClr val="6B6559"/>
                </a:solidFill>
                <a:latin typeface="Arial"/>
                <a:ea typeface="Arial"/>
                <a:cs typeface="Arial"/>
              </a:rPr>
              <a:t>SMART CONNECT   ·   Innovation idea for discussion</a:t>
            </a:r>
          </a:p>
        </p:txBody>
      </p:sp>
      <p:sp>
        <p:nvSpPr>
          <p:cNvPr id="5" name="TextBox 4"/>
          <p:cNvSpPr txBox="1"/>
          <p:nvPr/>
        </p:nvSpPr>
        <p:spPr>
          <a:xfrm>
            <a:off x="10378440" y="6492240"/>
            <a:ext cx="1234440" cy="274320"/>
          </a:xfrm>
          <a:prstGeom prst="rect">
            <a:avLst/>
          </a:prstGeom>
          <a:noFill/>
        </p:spPr>
        <p:txBody>
          <a:bodyPr wrap="square" lIns="0" rIns="0" tIns="0" bIns="0"/>
          <a:lstStyle/>
          <a:p>
            <a:pPr algn="r">
              <a:lnSpc>
                <a:spcPct val="108000"/>
              </a:lnSpc>
              <a:spcBef>
                <a:spcPts val="0"/>
              </a:spcBef>
              <a:spcAft>
                <a:spcPts val="0"/>
              </a:spcAft>
            </a:pPr>
            <a:r>
              <a:rPr sz="1400" b="0" i="0">
                <a:solidFill>
                  <a:srgbClr val="0C223F"/>
                </a:solidFill>
                <a:latin typeface="Georgia"/>
                <a:ea typeface="Georgia"/>
                <a:cs typeface="Georgia"/>
              </a:rPr>
              <a:t>07</a:t>
            </a:r>
          </a:p>
        </p:txBody>
      </p:sp>
      <p:sp>
        <p:nvSpPr>
          <p:cNvPr id="6" name="TextBox 5"/>
          <p:cNvSpPr txBox="1"/>
          <p:nvPr/>
        </p:nvSpPr>
        <p:spPr>
          <a:xfrm>
            <a:off x="640080" y="256032"/>
            <a:ext cx="7315200" cy="256032"/>
          </a:xfrm>
          <a:prstGeom prst="rect">
            <a:avLst/>
          </a:prstGeom>
          <a:noFill/>
        </p:spPr>
        <p:txBody>
          <a:bodyPr wrap="square" lIns="0" rIns="0" tIns="0" bIns="0"/>
          <a:lstStyle/>
          <a:p>
            <a:pPr algn="l">
              <a:lnSpc>
                <a:spcPct val="108000"/>
              </a:lnSpc>
              <a:spcBef>
                <a:spcPts val="0"/>
              </a:spcBef>
              <a:spcAft>
                <a:spcPts val="0"/>
              </a:spcAft>
            </a:pPr>
            <a:r>
              <a:rPr sz="1100" b="1" i="0" spc="280">
                <a:solidFill>
                  <a:srgbClr val="C48614"/>
                </a:solidFill>
                <a:latin typeface="Arial"/>
                <a:ea typeface="Arial"/>
                <a:cs typeface="Arial"/>
              </a:rPr>
              <a:t>BENEFITS</a:t>
            </a:r>
          </a:p>
        </p:txBody>
      </p:sp>
      <p:sp>
        <p:nvSpPr>
          <p:cNvPr id="7" name="TextBox 6"/>
          <p:cNvSpPr txBox="1"/>
          <p:nvPr/>
        </p:nvSpPr>
        <p:spPr>
          <a:xfrm>
            <a:off x="640080" y="475488"/>
            <a:ext cx="10789920" cy="640080"/>
          </a:xfrm>
          <a:prstGeom prst="rect">
            <a:avLst/>
          </a:prstGeom>
          <a:noFill/>
        </p:spPr>
        <p:txBody>
          <a:bodyPr wrap="square" lIns="0" rIns="0" tIns="0" bIns="0"/>
          <a:lstStyle/>
          <a:p>
            <a:pPr algn="l">
              <a:lnSpc>
                <a:spcPct val="108000"/>
              </a:lnSpc>
              <a:spcBef>
                <a:spcPts val="0"/>
              </a:spcBef>
              <a:spcAft>
                <a:spcPts val="0"/>
              </a:spcAft>
            </a:pPr>
            <a:r>
              <a:rPr sz="3000" b="0" i="0">
                <a:solidFill>
                  <a:srgbClr val="0C223F"/>
                </a:solidFill>
                <a:latin typeface="Georgia"/>
                <a:ea typeface="Georgia"/>
                <a:cs typeface="Georgia"/>
              </a:rPr>
              <a:t>Who this could help</a:t>
            </a:r>
          </a:p>
        </p:txBody>
      </p:sp>
      <p:sp>
        <p:nvSpPr>
          <p:cNvPr id="8" name="Rounded Rectangle 7"/>
          <p:cNvSpPr/>
          <p:nvPr/>
        </p:nvSpPr>
        <p:spPr>
          <a:xfrm>
            <a:off x="640080" y="1280160"/>
            <a:ext cx="5349240" cy="4434840"/>
          </a:xfrm>
          <a:prstGeom prst="roundRect">
            <a:avLst>
              <a:gd name="adj" fmla="val 8000"/>
            </a:avLst>
          </a:prstGeom>
          <a:solidFill>
            <a:srgbClr val="FBF8F2"/>
          </a:solidFill>
          <a:ln w="9525">
            <a:solidFill>
              <a:srgbClr val="DDD5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assenger-navy.png"/>
          <p:cNvPicPr>
            <a:picLocks noChangeAspect="1"/>
          </p:cNvPicPr>
          <p:nvPr/>
        </p:nvPicPr>
        <p:blipFill>
          <a:blip r:embed="rId2"/>
          <a:stretch>
            <a:fillRect/>
          </a:stretch>
        </p:blipFill>
        <p:spPr>
          <a:xfrm>
            <a:off x="868680" y="1463040"/>
            <a:ext cx="566928" cy="566928"/>
          </a:xfrm>
          <a:prstGeom prst="rect">
            <a:avLst/>
          </a:prstGeom>
        </p:spPr>
      </p:pic>
      <p:sp>
        <p:nvSpPr>
          <p:cNvPr id="10" name="TextBox 9"/>
          <p:cNvSpPr txBox="1"/>
          <p:nvPr/>
        </p:nvSpPr>
        <p:spPr>
          <a:xfrm>
            <a:off x="1554480" y="1536192"/>
            <a:ext cx="4114800" cy="457200"/>
          </a:xfrm>
          <a:prstGeom prst="rect">
            <a:avLst/>
          </a:prstGeom>
          <a:noFill/>
        </p:spPr>
        <p:txBody>
          <a:bodyPr wrap="square" lIns="0" rIns="0" tIns="0" bIns="0"/>
          <a:lstStyle/>
          <a:p>
            <a:pPr algn="l">
              <a:lnSpc>
                <a:spcPct val="108000"/>
              </a:lnSpc>
              <a:spcBef>
                <a:spcPts val="0"/>
              </a:spcBef>
              <a:spcAft>
                <a:spcPts val="0"/>
              </a:spcAft>
            </a:pPr>
            <a:r>
              <a:rPr sz="2400" b="0" i="0">
                <a:solidFill>
                  <a:srgbClr val="0C223F"/>
                </a:solidFill>
                <a:latin typeface="Georgia"/>
                <a:ea typeface="Georgia"/>
                <a:cs typeface="Georgia"/>
              </a:rPr>
              <a:t>For passengers</a:t>
            </a:r>
          </a:p>
        </p:txBody>
      </p:sp>
      <p:sp>
        <p:nvSpPr>
          <p:cNvPr id="11" name="Oval 10"/>
          <p:cNvSpPr/>
          <p:nvPr/>
        </p:nvSpPr>
        <p:spPr>
          <a:xfrm>
            <a:off x="960120" y="2395728"/>
            <a:ext cx="164592" cy="164592"/>
          </a:xfrm>
          <a:prstGeom prst="ellipse">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2286000"/>
            <a:ext cx="4297680" cy="292608"/>
          </a:xfrm>
          <a:prstGeom prst="rect">
            <a:avLst/>
          </a:prstGeom>
          <a:noFill/>
        </p:spPr>
        <p:txBody>
          <a:bodyPr wrap="square" lIns="0" rIns="0" tIns="0" bIns="0"/>
          <a:lstStyle/>
          <a:p>
            <a:pPr algn="l">
              <a:lnSpc>
                <a:spcPct val="108000"/>
              </a:lnSpc>
              <a:spcBef>
                <a:spcPts val="0"/>
              </a:spcBef>
              <a:spcAft>
                <a:spcPts val="0"/>
              </a:spcAft>
            </a:pPr>
            <a:r>
              <a:rPr sz="1600" b="1" i="0">
                <a:solidFill>
                  <a:srgbClr val="0C223F"/>
                </a:solidFill>
                <a:latin typeface="Arial"/>
                <a:ea typeface="Arial"/>
                <a:cs typeface="Arial"/>
              </a:rPr>
              <a:t>Less stress</a:t>
            </a:r>
          </a:p>
        </p:txBody>
      </p:sp>
      <p:sp>
        <p:nvSpPr>
          <p:cNvPr id="13" name="TextBox 12"/>
          <p:cNvSpPr txBox="1"/>
          <p:nvPr/>
        </p:nvSpPr>
        <p:spPr>
          <a:xfrm>
            <a:off x="1325880" y="2578608"/>
            <a:ext cx="4297680" cy="365760"/>
          </a:xfrm>
          <a:prstGeom prst="rect">
            <a:avLst/>
          </a:prstGeom>
          <a:noFill/>
        </p:spPr>
        <p:txBody>
          <a:bodyPr wrap="square" lIns="0" rIns="0" tIns="0" bIns="0"/>
          <a:lstStyle/>
          <a:p>
            <a:pPr algn="l">
              <a:lnSpc>
                <a:spcPct val="108000"/>
              </a:lnSpc>
              <a:spcBef>
                <a:spcPts val="0"/>
              </a:spcBef>
              <a:spcAft>
                <a:spcPts val="0"/>
              </a:spcAft>
            </a:pPr>
            <a:r>
              <a:rPr sz="1300" b="0" i="0">
                <a:solidFill>
                  <a:srgbClr val="6B6559"/>
                </a:solidFill>
                <a:latin typeface="Arial"/>
                <a:ea typeface="Arial"/>
                <a:cs typeface="Arial"/>
              </a:rPr>
              <a:t>Fewer last-minute surprises at the gate.</a:t>
            </a:r>
          </a:p>
        </p:txBody>
      </p:sp>
      <p:sp>
        <p:nvSpPr>
          <p:cNvPr id="14" name="Oval 13"/>
          <p:cNvSpPr/>
          <p:nvPr/>
        </p:nvSpPr>
        <p:spPr>
          <a:xfrm>
            <a:off x="960120" y="3355848"/>
            <a:ext cx="164592" cy="164592"/>
          </a:xfrm>
          <a:prstGeom prst="ellipse">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3246120"/>
            <a:ext cx="4297680" cy="292608"/>
          </a:xfrm>
          <a:prstGeom prst="rect">
            <a:avLst/>
          </a:prstGeom>
          <a:noFill/>
        </p:spPr>
        <p:txBody>
          <a:bodyPr wrap="square" lIns="0" rIns="0" tIns="0" bIns="0"/>
          <a:lstStyle/>
          <a:p>
            <a:pPr algn="l">
              <a:lnSpc>
                <a:spcPct val="108000"/>
              </a:lnSpc>
              <a:spcBef>
                <a:spcPts val="0"/>
              </a:spcBef>
              <a:spcAft>
                <a:spcPts val="0"/>
              </a:spcAft>
            </a:pPr>
            <a:r>
              <a:rPr sz="1600" b="1" i="0">
                <a:solidFill>
                  <a:srgbClr val="0C223F"/>
                </a:solidFill>
                <a:latin typeface="Arial"/>
                <a:ea typeface="Arial"/>
                <a:cs typeface="Arial"/>
              </a:rPr>
              <a:t>Better guidance</a:t>
            </a:r>
          </a:p>
        </p:txBody>
      </p:sp>
      <p:sp>
        <p:nvSpPr>
          <p:cNvPr id="16" name="TextBox 15"/>
          <p:cNvSpPr txBox="1"/>
          <p:nvPr/>
        </p:nvSpPr>
        <p:spPr>
          <a:xfrm>
            <a:off x="1325880" y="3538727"/>
            <a:ext cx="4297680" cy="365760"/>
          </a:xfrm>
          <a:prstGeom prst="rect">
            <a:avLst/>
          </a:prstGeom>
          <a:noFill/>
        </p:spPr>
        <p:txBody>
          <a:bodyPr wrap="square" lIns="0" rIns="0" tIns="0" bIns="0"/>
          <a:lstStyle/>
          <a:p>
            <a:pPr algn="l">
              <a:lnSpc>
                <a:spcPct val="108000"/>
              </a:lnSpc>
              <a:spcBef>
                <a:spcPts val="0"/>
              </a:spcBef>
              <a:spcAft>
                <a:spcPts val="0"/>
              </a:spcAft>
            </a:pPr>
            <a:r>
              <a:rPr sz="1300" b="0" i="0">
                <a:solidFill>
                  <a:srgbClr val="6B6559"/>
                </a:solidFill>
                <a:latin typeface="Arial"/>
                <a:ea typeface="Arial"/>
                <a:cs typeface="Arial"/>
              </a:rPr>
              <a:t>Clearer help when time is short.</a:t>
            </a:r>
          </a:p>
        </p:txBody>
      </p:sp>
      <p:sp>
        <p:nvSpPr>
          <p:cNvPr id="17" name="Oval 16"/>
          <p:cNvSpPr/>
          <p:nvPr/>
        </p:nvSpPr>
        <p:spPr>
          <a:xfrm>
            <a:off x="960120" y="4315968"/>
            <a:ext cx="164592" cy="164592"/>
          </a:xfrm>
          <a:prstGeom prst="ellipse">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25880" y="4206240"/>
            <a:ext cx="4297680" cy="292608"/>
          </a:xfrm>
          <a:prstGeom prst="rect">
            <a:avLst/>
          </a:prstGeom>
          <a:noFill/>
        </p:spPr>
        <p:txBody>
          <a:bodyPr wrap="square" lIns="0" rIns="0" tIns="0" bIns="0"/>
          <a:lstStyle/>
          <a:p>
            <a:pPr algn="l">
              <a:lnSpc>
                <a:spcPct val="108000"/>
              </a:lnSpc>
              <a:spcBef>
                <a:spcPts val="0"/>
              </a:spcBef>
              <a:spcAft>
                <a:spcPts val="0"/>
              </a:spcAft>
            </a:pPr>
            <a:r>
              <a:rPr sz="1600" b="1" i="0">
                <a:solidFill>
                  <a:srgbClr val="0C223F"/>
                </a:solidFill>
                <a:latin typeface="Arial"/>
                <a:ea typeface="Arial"/>
                <a:cs typeface="Arial"/>
              </a:rPr>
              <a:t>Fewer missed connections</a:t>
            </a:r>
          </a:p>
        </p:txBody>
      </p:sp>
      <p:sp>
        <p:nvSpPr>
          <p:cNvPr id="19" name="TextBox 18"/>
          <p:cNvSpPr txBox="1"/>
          <p:nvPr/>
        </p:nvSpPr>
        <p:spPr>
          <a:xfrm>
            <a:off x="1325880" y="4498848"/>
            <a:ext cx="4297680" cy="365760"/>
          </a:xfrm>
          <a:prstGeom prst="rect">
            <a:avLst/>
          </a:prstGeom>
          <a:noFill/>
        </p:spPr>
        <p:txBody>
          <a:bodyPr wrap="square" lIns="0" rIns="0" tIns="0" bIns="0"/>
          <a:lstStyle/>
          <a:p>
            <a:pPr algn="l">
              <a:lnSpc>
                <a:spcPct val="108000"/>
              </a:lnSpc>
              <a:spcBef>
                <a:spcPts val="0"/>
              </a:spcBef>
              <a:spcAft>
                <a:spcPts val="0"/>
              </a:spcAft>
            </a:pPr>
            <a:r>
              <a:rPr sz="1300" b="0" i="0">
                <a:solidFill>
                  <a:srgbClr val="6B6559"/>
                </a:solidFill>
                <a:latin typeface="Arial"/>
                <a:ea typeface="Arial"/>
                <a:cs typeface="Arial"/>
              </a:rPr>
              <a:t>A better chance of making the next flight.</a:t>
            </a:r>
          </a:p>
        </p:txBody>
      </p:sp>
      <p:sp>
        <p:nvSpPr>
          <p:cNvPr id="20" name="Rounded Rectangle 19"/>
          <p:cNvSpPr/>
          <p:nvPr/>
        </p:nvSpPr>
        <p:spPr>
          <a:xfrm>
            <a:off x="6217920" y="1280160"/>
            <a:ext cx="5349240" cy="4434840"/>
          </a:xfrm>
          <a:prstGeom prst="roundRect">
            <a:avLst>
              <a:gd name="adj" fmla="val 8000"/>
            </a:avLst>
          </a:prstGeom>
          <a:solidFill>
            <a:srgbClr val="0C2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taff-cream.png"/>
          <p:cNvPicPr>
            <a:picLocks noChangeAspect="1"/>
          </p:cNvPicPr>
          <p:nvPr/>
        </p:nvPicPr>
        <p:blipFill>
          <a:blip r:embed="rId3"/>
          <a:stretch>
            <a:fillRect/>
          </a:stretch>
        </p:blipFill>
        <p:spPr>
          <a:xfrm>
            <a:off x="6446520" y="1463040"/>
            <a:ext cx="566928" cy="566928"/>
          </a:xfrm>
          <a:prstGeom prst="rect">
            <a:avLst/>
          </a:prstGeom>
        </p:spPr>
      </p:pic>
      <p:sp>
        <p:nvSpPr>
          <p:cNvPr id="22" name="TextBox 21"/>
          <p:cNvSpPr txBox="1"/>
          <p:nvPr/>
        </p:nvSpPr>
        <p:spPr>
          <a:xfrm>
            <a:off x="7132320" y="1536192"/>
            <a:ext cx="4114800" cy="457200"/>
          </a:xfrm>
          <a:prstGeom prst="rect">
            <a:avLst/>
          </a:prstGeom>
          <a:noFill/>
        </p:spPr>
        <p:txBody>
          <a:bodyPr wrap="square" lIns="0" rIns="0" tIns="0" bIns="0"/>
          <a:lstStyle/>
          <a:p>
            <a:pPr algn="l">
              <a:lnSpc>
                <a:spcPct val="108000"/>
              </a:lnSpc>
              <a:spcBef>
                <a:spcPts val="0"/>
              </a:spcBef>
              <a:spcAft>
                <a:spcPts val="0"/>
              </a:spcAft>
            </a:pPr>
            <a:r>
              <a:rPr sz="2200" b="0" i="0">
                <a:solidFill>
                  <a:srgbClr val="FFFFFF"/>
                </a:solidFill>
                <a:latin typeface="Georgia"/>
                <a:ea typeface="Georgia"/>
                <a:cs typeface="Georgia"/>
              </a:rPr>
              <a:t>For airlines and airports</a:t>
            </a:r>
          </a:p>
        </p:txBody>
      </p:sp>
      <p:sp>
        <p:nvSpPr>
          <p:cNvPr id="23" name="Oval 22"/>
          <p:cNvSpPr/>
          <p:nvPr/>
        </p:nvSpPr>
        <p:spPr>
          <a:xfrm>
            <a:off x="6537960" y="2286000"/>
            <a:ext cx="146304" cy="146304"/>
          </a:xfrm>
          <a:prstGeom prst="ellipse">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2194560"/>
            <a:ext cx="4389120" cy="256032"/>
          </a:xfrm>
          <a:prstGeom prst="rect">
            <a:avLst/>
          </a:prstGeom>
          <a:noFill/>
        </p:spPr>
        <p:txBody>
          <a:bodyPr wrap="square" lIns="0" rIns="0" tIns="0" bIns="0"/>
          <a:lstStyle/>
          <a:p>
            <a:pPr algn="l">
              <a:lnSpc>
                <a:spcPct val="108000"/>
              </a:lnSpc>
              <a:spcBef>
                <a:spcPts val="0"/>
              </a:spcBef>
              <a:spcAft>
                <a:spcPts val="0"/>
              </a:spcAft>
            </a:pPr>
            <a:r>
              <a:rPr sz="1500" b="1" i="0">
                <a:solidFill>
                  <a:srgbClr val="FFFFFF"/>
                </a:solidFill>
                <a:latin typeface="Arial"/>
                <a:ea typeface="Arial"/>
                <a:cs typeface="Arial"/>
              </a:rPr>
              <a:t>Better coordination</a:t>
            </a:r>
          </a:p>
        </p:txBody>
      </p:sp>
      <p:sp>
        <p:nvSpPr>
          <p:cNvPr id="25" name="TextBox 24"/>
          <p:cNvSpPr txBox="1"/>
          <p:nvPr/>
        </p:nvSpPr>
        <p:spPr>
          <a:xfrm>
            <a:off x="6858000" y="2450591"/>
            <a:ext cx="4389120" cy="292608"/>
          </a:xfrm>
          <a:prstGeom prst="rect">
            <a:avLst/>
          </a:prstGeom>
          <a:noFill/>
        </p:spPr>
        <p:txBody>
          <a:bodyPr wrap="square" lIns="0" rIns="0" tIns="0" bIns="0"/>
          <a:lstStyle/>
          <a:p>
            <a:pPr algn="l">
              <a:lnSpc>
                <a:spcPct val="108000"/>
              </a:lnSpc>
              <a:spcBef>
                <a:spcPts val="0"/>
              </a:spcBef>
              <a:spcAft>
                <a:spcPts val="0"/>
              </a:spcAft>
            </a:pPr>
            <a:r>
              <a:rPr sz="1200" b="0" i="0">
                <a:solidFill>
                  <a:srgbClr val="C5D0DC"/>
                </a:solidFill>
                <a:latin typeface="Arial"/>
                <a:ea typeface="Arial"/>
                <a:cs typeface="Arial"/>
              </a:rPr>
              <a:t>Teams see the same at-risk connection sooner.</a:t>
            </a:r>
          </a:p>
        </p:txBody>
      </p:sp>
      <p:sp>
        <p:nvSpPr>
          <p:cNvPr id="26" name="Oval 25"/>
          <p:cNvSpPr/>
          <p:nvPr/>
        </p:nvSpPr>
        <p:spPr>
          <a:xfrm>
            <a:off x="6537960" y="3090672"/>
            <a:ext cx="146304" cy="146304"/>
          </a:xfrm>
          <a:prstGeom prst="ellipse">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2999232"/>
            <a:ext cx="4389120" cy="256032"/>
          </a:xfrm>
          <a:prstGeom prst="rect">
            <a:avLst/>
          </a:prstGeom>
          <a:noFill/>
        </p:spPr>
        <p:txBody>
          <a:bodyPr wrap="square" lIns="0" rIns="0" tIns="0" bIns="0"/>
          <a:lstStyle/>
          <a:p>
            <a:pPr algn="l">
              <a:lnSpc>
                <a:spcPct val="108000"/>
              </a:lnSpc>
              <a:spcBef>
                <a:spcPts val="0"/>
              </a:spcBef>
              <a:spcAft>
                <a:spcPts val="0"/>
              </a:spcAft>
            </a:pPr>
            <a:r>
              <a:rPr sz="1500" b="1" i="0">
                <a:solidFill>
                  <a:srgbClr val="FFFFFF"/>
                </a:solidFill>
                <a:latin typeface="Arial"/>
                <a:ea typeface="Arial"/>
                <a:cs typeface="Arial"/>
              </a:rPr>
              <a:t>Earlier intervention</a:t>
            </a:r>
          </a:p>
        </p:txBody>
      </p:sp>
      <p:sp>
        <p:nvSpPr>
          <p:cNvPr id="28" name="TextBox 27"/>
          <p:cNvSpPr txBox="1"/>
          <p:nvPr/>
        </p:nvSpPr>
        <p:spPr>
          <a:xfrm>
            <a:off x="6858000" y="3255263"/>
            <a:ext cx="4389120" cy="292608"/>
          </a:xfrm>
          <a:prstGeom prst="rect">
            <a:avLst/>
          </a:prstGeom>
          <a:noFill/>
        </p:spPr>
        <p:txBody>
          <a:bodyPr wrap="square" lIns="0" rIns="0" tIns="0" bIns="0"/>
          <a:lstStyle/>
          <a:p>
            <a:pPr algn="l">
              <a:lnSpc>
                <a:spcPct val="108000"/>
              </a:lnSpc>
              <a:spcBef>
                <a:spcPts val="0"/>
              </a:spcBef>
              <a:spcAft>
                <a:spcPts val="0"/>
              </a:spcAft>
            </a:pPr>
            <a:r>
              <a:rPr sz="1200" b="0" i="0">
                <a:solidFill>
                  <a:srgbClr val="C5D0DC"/>
                </a:solidFill>
                <a:latin typeface="Arial"/>
                <a:ea typeface="Arial"/>
                <a:cs typeface="Arial"/>
              </a:rPr>
              <a:t>Time to help, not only to apologize.</a:t>
            </a:r>
          </a:p>
        </p:txBody>
      </p:sp>
      <p:sp>
        <p:nvSpPr>
          <p:cNvPr id="29" name="Oval 28"/>
          <p:cNvSpPr/>
          <p:nvPr/>
        </p:nvSpPr>
        <p:spPr>
          <a:xfrm>
            <a:off x="6537960" y="3895344"/>
            <a:ext cx="146304" cy="146304"/>
          </a:xfrm>
          <a:prstGeom prst="ellipse">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0" y="3803904"/>
            <a:ext cx="4389120" cy="256032"/>
          </a:xfrm>
          <a:prstGeom prst="rect">
            <a:avLst/>
          </a:prstGeom>
          <a:noFill/>
        </p:spPr>
        <p:txBody>
          <a:bodyPr wrap="square" lIns="0" rIns="0" tIns="0" bIns="0"/>
          <a:lstStyle/>
          <a:p>
            <a:pPr algn="l">
              <a:lnSpc>
                <a:spcPct val="108000"/>
              </a:lnSpc>
              <a:spcBef>
                <a:spcPts val="0"/>
              </a:spcBef>
              <a:spcAft>
                <a:spcPts val="0"/>
              </a:spcAft>
            </a:pPr>
            <a:r>
              <a:rPr sz="1500" b="1" i="0">
                <a:solidFill>
                  <a:srgbClr val="FFFFFF"/>
                </a:solidFill>
                <a:latin typeface="Arial"/>
                <a:ea typeface="Arial"/>
                <a:cs typeface="Arial"/>
              </a:rPr>
              <a:t>Better passenger experience</a:t>
            </a:r>
          </a:p>
        </p:txBody>
      </p:sp>
      <p:sp>
        <p:nvSpPr>
          <p:cNvPr id="31" name="TextBox 30"/>
          <p:cNvSpPr txBox="1"/>
          <p:nvPr/>
        </p:nvSpPr>
        <p:spPr>
          <a:xfrm>
            <a:off x="6858000" y="4059936"/>
            <a:ext cx="4389120" cy="292608"/>
          </a:xfrm>
          <a:prstGeom prst="rect">
            <a:avLst/>
          </a:prstGeom>
          <a:noFill/>
        </p:spPr>
        <p:txBody>
          <a:bodyPr wrap="square" lIns="0" rIns="0" tIns="0" bIns="0"/>
          <a:lstStyle/>
          <a:p>
            <a:pPr algn="l">
              <a:lnSpc>
                <a:spcPct val="108000"/>
              </a:lnSpc>
              <a:spcBef>
                <a:spcPts val="0"/>
              </a:spcBef>
              <a:spcAft>
                <a:spcPts val="0"/>
              </a:spcAft>
            </a:pPr>
            <a:r>
              <a:rPr sz="1200" b="0" i="0">
                <a:solidFill>
                  <a:srgbClr val="C5D0DC"/>
                </a:solidFill>
                <a:latin typeface="Arial"/>
                <a:ea typeface="Arial"/>
                <a:cs typeface="Arial"/>
              </a:rPr>
              <a:t>Calmer handling of a stressful moment.</a:t>
            </a:r>
          </a:p>
        </p:txBody>
      </p:sp>
      <p:sp>
        <p:nvSpPr>
          <p:cNvPr id="32" name="Oval 31"/>
          <p:cNvSpPr/>
          <p:nvPr/>
        </p:nvSpPr>
        <p:spPr>
          <a:xfrm>
            <a:off x="6537960" y="4700016"/>
            <a:ext cx="146304" cy="146304"/>
          </a:xfrm>
          <a:prstGeom prst="ellipse">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0" y="4608576"/>
            <a:ext cx="4389120" cy="256032"/>
          </a:xfrm>
          <a:prstGeom prst="rect">
            <a:avLst/>
          </a:prstGeom>
          <a:noFill/>
        </p:spPr>
        <p:txBody>
          <a:bodyPr wrap="square" lIns="0" rIns="0" tIns="0" bIns="0"/>
          <a:lstStyle/>
          <a:p>
            <a:pPr algn="l">
              <a:lnSpc>
                <a:spcPct val="108000"/>
              </a:lnSpc>
              <a:spcBef>
                <a:spcPts val="0"/>
              </a:spcBef>
              <a:spcAft>
                <a:spcPts val="0"/>
              </a:spcAft>
            </a:pPr>
            <a:r>
              <a:rPr sz="1500" b="1" i="0">
                <a:solidFill>
                  <a:srgbClr val="FFFFFF"/>
                </a:solidFill>
                <a:latin typeface="Arial"/>
                <a:ea typeface="Arial"/>
                <a:cs typeface="Arial"/>
              </a:rPr>
              <a:t>Fewer knock-on problems</a:t>
            </a:r>
          </a:p>
        </p:txBody>
      </p:sp>
      <p:sp>
        <p:nvSpPr>
          <p:cNvPr id="34" name="TextBox 33"/>
          <p:cNvSpPr txBox="1"/>
          <p:nvPr/>
        </p:nvSpPr>
        <p:spPr>
          <a:xfrm>
            <a:off x="6858000" y="4864608"/>
            <a:ext cx="4389120" cy="292608"/>
          </a:xfrm>
          <a:prstGeom prst="rect">
            <a:avLst/>
          </a:prstGeom>
          <a:noFill/>
        </p:spPr>
        <p:txBody>
          <a:bodyPr wrap="square" lIns="0" rIns="0" tIns="0" bIns="0"/>
          <a:lstStyle/>
          <a:p>
            <a:pPr algn="l">
              <a:lnSpc>
                <a:spcPct val="108000"/>
              </a:lnSpc>
              <a:spcBef>
                <a:spcPts val="0"/>
              </a:spcBef>
              <a:spcAft>
                <a:spcPts val="0"/>
              </a:spcAft>
            </a:pPr>
            <a:r>
              <a:rPr sz="1200" b="0" i="0">
                <a:solidFill>
                  <a:srgbClr val="C5D0DC"/>
                </a:solidFill>
                <a:latin typeface="Arial"/>
                <a:ea typeface="Arial"/>
                <a:cs typeface="Arial"/>
              </a:rPr>
              <a:t>Potentially fewer missed bags and missed flights.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8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510528"/>
            <a:ext cx="7772400" cy="256032"/>
          </a:xfrm>
          <a:prstGeom prst="rect">
            <a:avLst/>
          </a:prstGeom>
          <a:noFill/>
        </p:spPr>
        <p:txBody>
          <a:bodyPr wrap="square" lIns="0" rIns="0" tIns="0" bIns="0"/>
          <a:lstStyle/>
          <a:p>
            <a:pPr algn="l">
              <a:lnSpc>
                <a:spcPct val="108000"/>
              </a:lnSpc>
              <a:spcBef>
                <a:spcPts val="0"/>
              </a:spcBef>
              <a:spcAft>
                <a:spcPts val="0"/>
              </a:spcAft>
            </a:pPr>
            <a:r>
              <a:rPr sz="1000" b="0" i="0" spc="80">
                <a:solidFill>
                  <a:srgbClr val="9AB0C4"/>
                </a:solidFill>
                <a:latin typeface="Arial"/>
                <a:ea typeface="Arial"/>
                <a:cs typeface="Arial"/>
              </a:rPr>
              <a:t>SMART CONNECT   ·   Innovation idea for discussion</a:t>
            </a:r>
          </a:p>
        </p:txBody>
      </p:sp>
      <p:sp>
        <p:nvSpPr>
          <p:cNvPr id="4" name="TextBox 3"/>
          <p:cNvSpPr txBox="1"/>
          <p:nvPr/>
        </p:nvSpPr>
        <p:spPr>
          <a:xfrm>
            <a:off x="10378440" y="6492240"/>
            <a:ext cx="1234440" cy="274320"/>
          </a:xfrm>
          <a:prstGeom prst="rect">
            <a:avLst/>
          </a:prstGeom>
          <a:noFill/>
        </p:spPr>
        <p:txBody>
          <a:bodyPr wrap="square" lIns="0" rIns="0" tIns="0" bIns="0"/>
          <a:lstStyle/>
          <a:p>
            <a:pPr algn="r">
              <a:lnSpc>
                <a:spcPct val="108000"/>
              </a:lnSpc>
              <a:spcBef>
                <a:spcPts val="0"/>
              </a:spcBef>
              <a:spcAft>
                <a:spcPts val="0"/>
              </a:spcAft>
            </a:pPr>
            <a:r>
              <a:rPr sz="1400" b="0" i="0">
                <a:solidFill>
                  <a:srgbClr val="F4E6C4"/>
                </a:solidFill>
                <a:latin typeface="Georgia"/>
                <a:ea typeface="Georgia"/>
                <a:cs typeface="Georgia"/>
              </a:rPr>
              <a:t>08</a:t>
            </a:r>
          </a:p>
        </p:txBody>
      </p:sp>
      <p:sp>
        <p:nvSpPr>
          <p:cNvPr id="5" name="TextBox 4"/>
          <p:cNvSpPr txBox="1"/>
          <p:nvPr/>
        </p:nvSpPr>
        <p:spPr>
          <a:xfrm>
            <a:off x="640080" y="256032"/>
            <a:ext cx="7315200" cy="256032"/>
          </a:xfrm>
          <a:prstGeom prst="rect">
            <a:avLst/>
          </a:prstGeom>
          <a:noFill/>
        </p:spPr>
        <p:txBody>
          <a:bodyPr wrap="square" lIns="0" rIns="0" tIns="0" bIns="0"/>
          <a:lstStyle/>
          <a:p>
            <a:pPr algn="l">
              <a:lnSpc>
                <a:spcPct val="108000"/>
              </a:lnSpc>
              <a:spcBef>
                <a:spcPts val="0"/>
              </a:spcBef>
              <a:spcAft>
                <a:spcPts val="0"/>
              </a:spcAft>
            </a:pPr>
            <a:r>
              <a:rPr sz="1100" b="1" i="0" spc="280">
                <a:solidFill>
                  <a:srgbClr val="F4E6C4"/>
                </a:solidFill>
                <a:latin typeface="Arial"/>
                <a:ea typeface="Arial"/>
                <a:cs typeface="Arial"/>
              </a:rPr>
              <a:t>A POSSIBLE PATH</a:t>
            </a:r>
          </a:p>
        </p:txBody>
      </p:sp>
      <p:sp>
        <p:nvSpPr>
          <p:cNvPr id="6" name="TextBox 5"/>
          <p:cNvSpPr txBox="1"/>
          <p:nvPr/>
        </p:nvSpPr>
        <p:spPr>
          <a:xfrm>
            <a:off x="640080" y="475488"/>
            <a:ext cx="10789920" cy="640080"/>
          </a:xfrm>
          <a:prstGeom prst="rect">
            <a:avLst/>
          </a:prstGeom>
          <a:noFill/>
        </p:spPr>
        <p:txBody>
          <a:bodyPr wrap="square" lIns="0" rIns="0" tIns="0" bIns="0"/>
          <a:lstStyle/>
          <a:p>
            <a:pPr algn="l">
              <a:lnSpc>
                <a:spcPct val="108000"/>
              </a:lnSpc>
              <a:spcBef>
                <a:spcPts val="0"/>
              </a:spcBef>
              <a:spcAft>
                <a:spcPts val="0"/>
              </a:spcAft>
            </a:pPr>
            <a:r>
              <a:rPr sz="3000" b="0" i="0">
                <a:solidFill>
                  <a:srgbClr val="FFFFFF"/>
                </a:solidFill>
                <a:latin typeface="Georgia"/>
                <a:ea typeface="Georgia"/>
                <a:cs typeface="Georgia"/>
              </a:rPr>
              <a:t>Start small</a:t>
            </a:r>
          </a:p>
        </p:txBody>
      </p:sp>
      <p:sp>
        <p:nvSpPr>
          <p:cNvPr id="7" name="Rounded Rectangle 6"/>
          <p:cNvSpPr/>
          <p:nvPr/>
        </p:nvSpPr>
        <p:spPr>
          <a:xfrm>
            <a:off x="640080" y="1280160"/>
            <a:ext cx="10972800" cy="1051560"/>
          </a:xfrm>
          <a:prstGeom prst="roundRect">
            <a:avLst>
              <a:gd name="adj" fmla="val 8000"/>
            </a:avLst>
          </a:prstGeom>
          <a:solidFill>
            <a:srgbClr val="163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280160"/>
            <a:ext cx="91440" cy="1051560"/>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280160"/>
            <a:ext cx="10515600" cy="1051560"/>
          </a:xfrm>
          <a:prstGeom prst="rect">
            <a:avLst/>
          </a:prstGeom>
          <a:noFill/>
        </p:spPr>
        <p:txBody>
          <a:bodyPr wrap="square" lIns="0" rIns="0" tIns="0" bIns="0"/>
          <a:lstStyle/>
          <a:p>
            <a:pPr algn="l">
              <a:lnSpc>
                <a:spcPct val="108000"/>
              </a:lnSpc>
              <a:spcBef>
                <a:spcPts val="0"/>
              </a:spcBef>
              <a:spcAft>
                <a:spcPts val="0"/>
              </a:spcAft>
            </a:pPr>
            <a:r>
              <a:rPr sz="2400" b="0" i="1">
                <a:solidFill>
                  <a:srgbClr val="FFFFFF"/>
                </a:solidFill>
                <a:latin typeface="Georgia"/>
                <a:ea typeface="Georgia"/>
                <a:cs typeface="Georgia"/>
              </a:rPr>
              <a:t>First, identify high-risk connecting passengers.</a:t>
            </a:r>
          </a:p>
        </p:txBody>
      </p:sp>
      <p:sp>
        <p:nvSpPr>
          <p:cNvPr id="10" name="TextBox 9"/>
          <p:cNvSpPr txBox="1"/>
          <p:nvPr/>
        </p:nvSpPr>
        <p:spPr>
          <a:xfrm>
            <a:off x="640080" y="2514600"/>
            <a:ext cx="10972800" cy="320040"/>
          </a:xfrm>
          <a:prstGeom prst="rect">
            <a:avLst/>
          </a:prstGeom>
          <a:noFill/>
        </p:spPr>
        <p:txBody>
          <a:bodyPr wrap="square" lIns="0" rIns="0" tIns="0" bIns="0"/>
          <a:lstStyle/>
          <a:p>
            <a:pPr algn="l">
              <a:lnSpc>
                <a:spcPct val="108000"/>
              </a:lnSpc>
              <a:spcBef>
                <a:spcPts val="0"/>
              </a:spcBef>
              <a:spcAft>
                <a:spcPts val="0"/>
              </a:spcAft>
            </a:pPr>
            <a:r>
              <a:rPr sz="1400" b="0" i="0">
                <a:solidFill>
                  <a:srgbClr val="B7C6D4"/>
                </a:solidFill>
                <a:latin typeface="Arial"/>
                <a:ea typeface="Arial"/>
                <a:cs typeface="Arial"/>
              </a:rPr>
              <a:t>Later it could potentially expand to:</a:t>
            </a:r>
          </a:p>
        </p:txBody>
      </p:sp>
      <p:sp>
        <p:nvSpPr>
          <p:cNvPr id="11" name="Rounded Rectangle 10"/>
          <p:cNvSpPr/>
          <p:nvPr/>
        </p:nvSpPr>
        <p:spPr>
          <a:xfrm>
            <a:off x="640080" y="2926080"/>
            <a:ext cx="2651760" cy="1417320"/>
          </a:xfrm>
          <a:prstGeom prst="roundRect">
            <a:avLst>
              <a:gd name="adj" fmla="val 8000"/>
            </a:avLst>
          </a:prstGeom>
          <a:solidFill>
            <a:srgbClr val="163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aggage-cream.png"/>
          <p:cNvPicPr>
            <a:picLocks noChangeAspect="1"/>
          </p:cNvPicPr>
          <p:nvPr/>
        </p:nvPicPr>
        <p:blipFill>
          <a:blip r:embed="rId2"/>
          <a:stretch>
            <a:fillRect/>
          </a:stretch>
        </p:blipFill>
        <p:spPr>
          <a:xfrm>
            <a:off x="822959" y="3108960"/>
            <a:ext cx="475488" cy="475488"/>
          </a:xfrm>
          <a:prstGeom prst="rect">
            <a:avLst/>
          </a:prstGeom>
        </p:spPr>
      </p:pic>
      <p:sp>
        <p:nvSpPr>
          <p:cNvPr id="13" name="TextBox 12"/>
          <p:cNvSpPr txBox="1"/>
          <p:nvPr/>
        </p:nvSpPr>
        <p:spPr>
          <a:xfrm>
            <a:off x="1389888" y="3035808"/>
            <a:ext cx="1737360" cy="1143000"/>
          </a:xfrm>
          <a:prstGeom prst="rect">
            <a:avLst/>
          </a:prstGeom>
          <a:noFill/>
        </p:spPr>
        <p:txBody>
          <a:bodyPr wrap="square" lIns="0" rIns="0" tIns="0" bIns="0"/>
          <a:lstStyle/>
          <a:p>
            <a:pPr algn="l">
              <a:lnSpc>
                <a:spcPct val="108000"/>
              </a:lnSpc>
              <a:spcBef>
                <a:spcPts val="0"/>
              </a:spcBef>
              <a:spcAft>
                <a:spcPts val="0"/>
              </a:spcAft>
            </a:pPr>
            <a:r>
              <a:rPr sz="1500" b="1" i="0">
                <a:solidFill>
                  <a:srgbClr val="FFFFFF"/>
                </a:solidFill>
                <a:latin typeface="Arial"/>
                <a:ea typeface="Arial"/>
                <a:cs typeface="Arial"/>
              </a:rPr>
              <a:t>Baggage</a:t>
            </a:r>
          </a:p>
          <a:p>
            <a:pPr algn="l">
              <a:lnSpc>
                <a:spcPct val="108000"/>
              </a:lnSpc>
              <a:spcBef>
                <a:spcPts val="0"/>
              </a:spcBef>
              <a:spcAft>
                <a:spcPts val="0"/>
              </a:spcAft>
            </a:pPr>
            <a:r>
              <a:rPr sz="1500" b="1" i="0">
                <a:solidFill>
                  <a:srgbClr val="FFFFFF"/>
                </a:solidFill>
                <a:latin typeface="Arial"/>
                <a:ea typeface="Arial"/>
                <a:cs typeface="Arial"/>
              </a:rPr>
              <a:t>coordination</a:t>
            </a:r>
          </a:p>
        </p:txBody>
      </p:sp>
      <p:sp>
        <p:nvSpPr>
          <p:cNvPr id="14" name="Rounded Rectangle 13"/>
          <p:cNvSpPr/>
          <p:nvPr/>
        </p:nvSpPr>
        <p:spPr>
          <a:xfrm>
            <a:off x="3474720" y="2926080"/>
            <a:ext cx="2651760" cy="1417320"/>
          </a:xfrm>
          <a:prstGeom prst="roundRect">
            <a:avLst>
              <a:gd name="adj" fmla="val 8000"/>
            </a:avLst>
          </a:prstGeom>
          <a:solidFill>
            <a:srgbClr val="163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ate-cream.png"/>
          <p:cNvPicPr>
            <a:picLocks noChangeAspect="1"/>
          </p:cNvPicPr>
          <p:nvPr/>
        </p:nvPicPr>
        <p:blipFill>
          <a:blip r:embed="rId3"/>
          <a:stretch>
            <a:fillRect/>
          </a:stretch>
        </p:blipFill>
        <p:spPr>
          <a:xfrm>
            <a:off x="3657600" y="3108960"/>
            <a:ext cx="475488" cy="475488"/>
          </a:xfrm>
          <a:prstGeom prst="rect">
            <a:avLst/>
          </a:prstGeom>
        </p:spPr>
      </p:pic>
      <p:sp>
        <p:nvSpPr>
          <p:cNvPr id="16" name="TextBox 15"/>
          <p:cNvSpPr txBox="1"/>
          <p:nvPr/>
        </p:nvSpPr>
        <p:spPr>
          <a:xfrm>
            <a:off x="4224528" y="3035808"/>
            <a:ext cx="1737360" cy="1143000"/>
          </a:xfrm>
          <a:prstGeom prst="rect">
            <a:avLst/>
          </a:prstGeom>
          <a:noFill/>
        </p:spPr>
        <p:txBody>
          <a:bodyPr wrap="square" lIns="0" rIns="0" tIns="0" bIns="0"/>
          <a:lstStyle/>
          <a:p>
            <a:pPr algn="l">
              <a:lnSpc>
                <a:spcPct val="108000"/>
              </a:lnSpc>
              <a:spcBef>
                <a:spcPts val="0"/>
              </a:spcBef>
              <a:spcAft>
                <a:spcPts val="0"/>
              </a:spcAft>
            </a:pPr>
            <a:r>
              <a:rPr sz="1500" b="1" i="0">
                <a:solidFill>
                  <a:srgbClr val="FFFFFF"/>
                </a:solidFill>
                <a:latin typeface="Arial"/>
                <a:ea typeface="Arial"/>
                <a:cs typeface="Arial"/>
              </a:rPr>
              <a:t>Gate</a:t>
            </a:r>
          </a:p>
          <a:p>
            <a:pPr algn="l">
              <a:lnSpc>
                <a:spcPct val="108000"/>
              </a:lnSpc>
              <a:spcBef>
                <a:spcPts val="0"/>
              </a:spcBef>
              <a:spcAft>
                <a:spcPts val="0"/>
              </a:spcAft>
            </a:pPr>
            <a:r>
              <a:rPr sz="1500" b="1" i="0">
                <a:solidFill>
                  <a:srgbClr val="FFFFFF"/>
                </a:solidFill>
                <a:latin typeface="Arial"/>
                <a:ea typeface="Arial"/>
                <a:cs typeface="Arial"/>
              </a:rPr>
              <a:t>coordination</a:t>
            </a:r>
          </a:p>
        </p:txBody>
      </p:sp>
      <p:sp>
        <p:nvSpPr>
          <p:cNvPr id="17" name="Rounded Rectangle 16"/>
          <p:cNvSpPr/>
          <p:nvPr/>
        </p:nvSpPr>
        <p:spPr>
          <a:xfrm>
            <a:off x="6309360" y="2926080"/>
            <a:ext cx="2651760" cy="1417320"/>
          </a:xfrm>
          <a:prstGeom prst="roundRect">
            <a:avLst>
              <a:gd name="adj" fmla="val 8000"/>
            </a:avLst>
          </a:prstGeom>
          <a:solidFill>
            <a:srgbClr val="163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oute-cream.png"/>
          <p:cNvPicPr>
            <a:picLocks noChangeAspect="1"/>
          </p:cNvPicPr>
          <p:nvPr/>
        </p:nvPicPr>
        <p:blipFill>
          <a:blip r:embed="rId4"/>
          <a:stretch>
            <a:fillRect/>
          </a:stretch>
        </p:blipFill>
        <p:spPr>
          <a:xfrm>
            <a:off x="6492240" y="3108960"/>
            <a:ext cx="475488" cy="475488"/>
          </a:xfrm>
          <a:prstGeom prst="rect">
            <a:avLst/>
          </a:prstGeom>
        </p:spPr>
      </p:pic>
      <p:sp>
        <p:nvSpPr>
          <p:cNvPr id="19" name="TextBox 18"/>
          <p:cNvSpPr txBox="1"/>
          <p:nvPr/>
        </p:nvSpPr>
        <p:spPr>
          <a:xfrm>
            <a:off x="7059168" y="3035808"/>
            <a:ext cx="1737360" cy="1143000"/>
          </a:xfrm>
          <a:prstGeom prst="rect">
            <a:avLst/>
          </a:prstGeom>
          <a:noFill/>
        </p:spPr>
        <p:txBody>
          <a:bodyPr wrap="square" lIns="0" rIns="0" tIns="0" bIns="0"/>
          <a:lstStyle/>
          <a:p>
            <a:pPr algn="l">
              <a:lnSpc>
                <a:spcPct val="108000"/>
              </a:lnSpc>
              <a:spcBef>
                <a:spcPts val="0"/>
              </a:spcBef>
              <a:spcAft>
                <a:spcPts val="0"/>
              </a:spcAft>
            </a:pPr>
            <a:r>
              <a:rPr sz="1500" b="1" i="0">
                <a:solidFill>
                  <a:srgbClr val="FFFFFF"/>
                </a:solidFill>
                <a:latin typeface="Arial"/>
                <a:ea typeface="Arial"/>
                <a:cs typeface="Arial"/>
              </a:rPr>
              <a:t>Passenger</a:t>
            </a:r>
          </a:p>
          <a:p>
            <a:pPr algn="l">
              <a:lnSpc>
                <a:spcPct val="108000"/>
              </a:lnSpc>
              <a:spcBef>
                <a:spcPts val="0"/>
              </a:spcBef>
              <a:spcAft>
                <a:spcPts val="0"/>
              </a:spcAft>
            </a:pPr>
            <a:r>
              <a:rPr sz="1500" b="1" i="0">
                <a:solidFill>
                  <a:srgbClr val="FFFFFF"/>
                </a:solidFill>
                <a:latin typeface="Arial"/>
                <a:ea typeface="Arial"/>
                <a:cs typeface="Arial"/>
              </a:rPr>
              <a:t>guidance</a:t>
            </a:r>
          </a:p>
        </p:txBody>
      </p:sp>
      <p:sp>
        <p:nvSpPr>
          <p:cNvPr id="20" name="Rounded Rectangle 19"/>
          <p:cNvSpPr/>
          <p:nvPr/>
        </p:nvSpPr>
        <p:spPr>
          <a:xfrm>
            <a:off x="9144000" y="2926080"/>
            <a:ext cx="2651760" cy="1417320"/>
          </a:xfrm>
          <a:prstGeom prst="roundRect">
            <a:avLst>
              <a:gd name="adj" fmla="val 8000"/>
            </a:avLst>
          </a:prstGeom>
          <a:solidFill>
            <a:srgbClr val="163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taff-cream.png"/>
          <p:cNvPicPr>
            <a:picLocks noChangeAspect="1"/>
          </p:cNvPicPr>
          <p:nvPr/>
        </p:nvPicPr>
        <p:blipFill>
          <a:blip r:embed="rId5"/>
          <a:stretch>
            <a:fillRect/>
          </a:stretch>
        </p:blipFill>
        <p:spPr>
          <a:xfrm>
            <a:off x="9326880" y="3108960"/>
            <a:ext cx="475488" cy="475488"/>
          </a:xfrm>
          <a:prstGeom prst="rect">
            <a:avLst/>
          </a:prstGeom>
        </p:spPr>
      </p:pic>
      <p:sp>
        <p:nvSpPr>
          <p:cNvPr id="22" name="TextBox 21"/>
          <p:cNvSpPr txBox="1"/>
          <p:nvPr/>
        </p:nvSpPr>
        <p:spPr>
          <a:xfrm>
            <a:off x="9893808" y="3035808"/>
            <a:ext cx="1737360" cy="1143000"/>
          </a:xfrm>
          <a:prstGeom prst="rect">
            <a:avLst/>
          </a:prstGeom>
          <a:noFill/>
        </p:spPr>
        <p:txBody>
          <a:bodyPr wrap="square" lIns="0" rIns="0" tIns="0" bIns="0"/>
          <a:lstStyle/>
          <a:p>
            <a:pPr algn="l">
              <a:lnSpc>
                <a:spcPct val="108000"/>
              </a:lnSpc>
              <a:spcBef>
                <a:spcPts val="0"/>
              </a:spcBef>
              <a:spcAft>
                <a:spcPts val="0"/>
              </a:spcAft>
            </a:pPr>
            <a:r>
              <a:rPr sz="1500" b="1" i="0">
                <a:solidFill>
                  <a:srgbClr val="FFFFFF"/>
                </a:solidFill>
                <a:latin typeface="Arial"/>
                <a:ea typeface="Arial"/>
                <a:cs typeface="Arial"/>
              </a:rPr>
              <a:t>Disruption</a:t>
            </a:r>
          </a:p>
          <a:p>
            <a:pPr algn="l">
              <a:lnSpc>
                <a:spcPct val="108000"/>
              </a:lnSpc>
              <a:spcBef>
                <a:spcPts val="0"/>
              </a:spcBef>
              <a:spcAft>
                <a:spcPts val="0"/>
              </a:spcAft>
            </a:pPr>
            <a:r>
              <a:rPr sz="1500" b="1" i="0">
                <a:solidFill>
                  <a:srgbClr val="FFFFFF"/>
                </a:solidFill>
                <a:latin typeface="Arial"/>
                <a:ea typeface="Arial"/>
                <a:cs typeface="Arial"/>
              </a:rPr>
              <a:t>assistance</a:t>
            </a:r>
          </a:p>
        </p:txBody>
      </p:sp>
      <p:sp>
        <p:nvSpPr>
          <p:cNvPr id="23" name="Rounded Rectangle 22"/>
          <p:cNvSpPr/>
          <p:nvPr/>
        </p:nvSpPr>
        <p:spPr>
          <a:xfrm>
            <a:off x="640080" y="4617720"/>
            <a:ext cx="10972800" cy="1554480"/>
          </a:xfrm>
          <a:prstGeom prst="roundRect">
            <a:avLst>
              <a:gd name="adj" fmla="val 8000"/>
            </a:avLst>
          </a:prstGeom>
          <a:solidFill>
            <a:srgbClr val="0A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617720"/>
            <a:ext cx="91440" cy="1554480"/>
          </a:xfrm>
          <a:prstGeom prst="rect">
            <a:avLst/>
          </a:prstGeom>
          <a:solidFill>
            <a:srgbClr val="C48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4754880"/>
            <a:ext cx="10332720" cy="1280160"/>
          </a:xfrm>
          <a:prstGeom prst="rect">
            <a:avLst/>
          </a:prstGeom>
          <a:noFill/>
        </p:spPr>
        <p:txBody>
          <a:bodyPr wrap="square" lIns="0" rIns="0" tIns="0" bIns="0"/>
          <a:lstStyle/>
          <a:p>
            <a:pPr algn="l">
              <a:lnSpc>
                <a:spcPct val="108000"/>
              </a:lnSpc>
              <a:spcBef>
                <a:spcPts val="0"/>
              </a:spcBef>
              <a:spcAft>
                <a:spcPts val="0"/>
              </a:spcAft>
            </a:pPr>
            <a:r>
              <a:rPr sz="2600" b="0" i="1">
                <a:solidFill>
                  <a:srgbClr val="FFFFFF"/>
                </a:solidFill>
                <a:latin typeface="Georgia"/>
                <a:ea typeface="Georgia"/>
                <a:cs typeface="Georgia"/>
              </a:rPr>
              <a:t>From reacting to missed connections</a:t>
            </a:r>
          </a:p>
          <a:p>
            <a:pPr algn="l">
              <a:lnSpc>
                <a:spcPct val="108000"/>
              </a:lnSpc>
              <a:spcBef>
                <a:spcPts val="0"/>
              </a:spcBef>
              <a:spcAft>
                <a:spcPts val="0"/>
              </a:spcAft>
            </a:pPr>
            <a:r>
              <a:rPr sz="2600" b="0" i="1">
                <a:solidFill>
                  <a:srgbClr val="FFFFFF"/>
                </a:solidFill>
                <a:latin typeface="Georgia"/>
                <a:ea typeface="Georgia"/>
                <a:cs typeface="Georgia"/>
              </a:rPr>
              <a:t>to preventing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Connect — Innovation Idea</dc:title>
  <dc:subject>Helping passengers catch connecting flights before it’s too late</dc:subject>
  <dc:creator>Airport Innovation Team</dc:creator>
  <cp:keywords/>
  <dc:description>Discussion draft. Not a description of a live system.</dc:description>
  <cp:lastModifiedBy>Airport Innovation Team</cp:lastModifiedBy>
  <cp:revision>1</cp:revision>
  <dcterms:created xsi:type="dcterms:W3CDTF">2013-01-27T09:14:16Z</dcterms:created>
  <dcterms:modified xsi:type="dcterms:W3CDTF">2013-01-27T09:15:58Z</dcterms:modified>
  <cp:category>Innovation discussion</cp:category>
</cp:coreProperties>
</file>