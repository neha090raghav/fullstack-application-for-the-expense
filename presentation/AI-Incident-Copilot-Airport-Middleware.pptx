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6766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Airport Technology  |  Internal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2440" y="45720"/>
            <a:ext cx="3794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 INTEGRATE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7772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Confidential  |  Human-in-the-loop concept  |  Not an implemented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601968"/>
            <a:ext cx="2286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Slide 1 of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881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E75B6"/>
                </a:solidFill>
                <a:latin typeface="Calibri"/>
              </a:rPr>
              <a:t>Proposed concept for middleware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8813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Calibri"/>
              </a:rPr>
              <a:t>AI Incident Copilot for Airport Middleware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60"/>
            <a:ext cx="96012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From incident detection to intelligent investigation and recommendation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3291840"/>
            <a:ext cx="2286000" cy="3657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3794760"/>
            <a:ext cx="2651760" cy="1234440"/>
          </a:xfrm>
          <a:prstGeom prst="rect">
            <a:avLst/>
          </a:prstGeom>
          <a:solidFill>
            <a:srgbClr val="FDE9D9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65911"/>
                </a:solidFill>
                <a:latin typeface="Calibri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Incident detected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3794760"/>
            <a:ext cx="2651760" cy="1234440"/>
          </a:xfrm>
          <a:prstGeom prst="rect">
            <a:avLst/>
          </a:prstGeom>
          <a:solidFill>
            <a:srgbClr val="DEEBF7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AI Analysis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Correlate and recommend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3794760"/>
            <a:ext cx="2651760" cy="1234440"/>
          </a:xfrm>
          <a:prstGeom prst="rect">
            <a:avLst/>
          </a:prstGeom>
          <a:solidFill>
            <a:srgbClr val="E2EFDA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375E37"/>
                </a:solidFill>
                <a:latin typeface="Calibri"/>
              </a:rPr>
              <a:t>Engineer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Validate and act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60520" y="4297680"/>
            <a:ext cx="457200" cy="25603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98079" y="4297680"/>
            <a:ext cx="457200" cy="25603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AI recommends.  The engineer decides.  No autonomous production changes.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6766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Airport Technology  |  Internal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2440" y="45720"/>
            <a:ext cx="3794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 INTEGRATE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The Current Incident Investigation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96112"/>
            <a:ext cx="1920240" cy="411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772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Confidential  |  Human-in-the-loop concept  |  Not an implemented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286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Slide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Today the engineer stitches this together by hand:</a:t>
            </a:r>
          </a:p>
        </p:txBody>
      </p:sp>
      <p:sp>
        <p:nvSpPr>
          <p:cNvPr id="11" name="Chevron 10"/>
          <p:cNvSpPr/>
          <p:nvPr/>
        </p:nvSpPr>
        <p:spPr>
          <a:xfrm>
            <a:off x="365760" y="1371600"/>
            <a:ext cx="2816352" cy="658368"/>
          </a:xfrm>
          <a:prstGeom prst="chevron">
            <a:avLst>
              <a:gd name="adj" fmla="val 16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73152" wrap="square" l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1  Incident alert</a:t>
            </a:r>
          </a:p>
        </p:txBody>
      </p:sp>
      <p:sp>
        <p:nvSpPr>
          <p:cNvPr id="12" name="Chevron 11"/>
          <p:cNvSpPr/>
          <p:nvPr/>
        </p:nvSpPr>
        <p:spPr>
          <a:xfrm>
            <a:off x="3236976" y="1371600"/>
            <a:ext cx="2816352" cy="658368"/>
          </a:xfrm>
          <a:prstGeom prst="chevron">
            <a:avLst>
              <a:gd name="adj" fmla="val 16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73152" wrap="square" l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2  Engineer starts investigation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6108192" y="1371600"/>
            <a:ext cx="2816352" cy="658368"/>
          </a:xfrm>
          <a:prstGeom prst="chevron">
            <a:avLst>
              <a:gd name="adj" fmla="val 16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73152" wrap="square" l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3  Check MQ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79408" y="1371600"/>
            <a:ext cx="2816352" cy="658368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4  Check ACE</a:t>
            </a:r>
          </a:p>
        </p:txBody>
      </p:sp>
      <p:sp>
        <p:nvSpPr>
          <p:cNvPr id="15" name="Chevron 14"/>
          <p:cNvSpPr/>
          <p:nvPr/>
        </p:nvSpPr>
        <p:spPr>
          <a:xfrm>
            <a:off x="365760" y="2176272"/>
            <a:ext cx="2816352" cy="658368"/>
          </a:xfrm>
          <a:prstGeom prst="chevron">
            <a:avLst>
              <a:gd name="adj" fmla="val 16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73152" wrap="square" l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5  Check logs</a:t>
            </a:r>
          </a:p>
        </p:txBody>
      </p:sp>
      <p:sp>
        <p:nvSpPr>
          <p:cNvPr id="16" name="Chevron 15"/>
          <p:cNvSpPr/>
          <p:nvPr/>
        </p:nvSpPr>
        <p:spPr>
          <a:xfrm>
            <a:off x="3236976" y="2176272"/>
            <a:ext cx="2816352" cy="658368"/>
          </a:xfrm>
          <a:prstGeom prst="chevron">
            <a:avLst>
              <a:gd name="adj" fmla="val 16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73152" wrap="square" l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6  Review previous incidents</a:t>
            </a:r>
          </a:p>
        </p:txBody>
      </p:sp>
      <p:sp>
        <p:nvSpPr>
          <p:cNvPr id="17" name="Chevron 16"/>
          <p:cNvSpPr/>
          <p:nvPr/>
        </p:nvSpPr>
        <p:spPr>
          <a:xfrm>
            <a:off x="6108192" y="2176272"/>
            <a:ext cx="2816352" cy="658368"/>
          </a:xfrm>
          <a:prstGeom prst="chevron">
            <a:avLst>
              <a:gd name="adj" fmla="val 16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73152" wrap="square" l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7  Identify pattern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9408" y="2176272"/>
            <a:ext cx="2816352" cy="658368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8  Decide what to 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63240"/>
            <a:ext cx="11430000" cy="64008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The required information is available, but engineers must manually connect the dots across multiple sources.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86200"/>
            <a:ext cx="5532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886200"/>
            <a:ext cx="5532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886200"/>
            <a:ext cx="553212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AIP Sentinel  (existing)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16636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F2F2F"/>
                </a:solidFill>
                <a:latin typeface="Calibri"/>
              </a:rPr>
              <a:t>Detection and alerting.
Tells the team that something is wrong so investigation can start.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886200"/>
            <a:ext cx="5532120" cy="3840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AI Incident Copilot  (proposed addition)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389120"/>
            <a:ext cx="516636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F2F2F"/>
                </a:solidFill>
                <a:latin typeface="Calibri"/>
              </a:rPr>
              <a:t>Investigation intelligence layer.
Does not replace Sentinel.  Prepares the investigation so the engineer can decide faster.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6766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Airport Technology  |  Internal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2440" y="45720"/>
            <a:ext cx="3794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 INTEGRATE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AI Incident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96112"/>
            <a:ext cx="1920240" cy="411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772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Confidential  |  Human-in-the-loop concept  |  Not an implemented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286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Slide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95959"/>
                </a:solidFill>
                <a:latin typeface="Calibri"/>
              </a:rPr>
              <a:t>Inputs the Copilot would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25880"/>
            <a:ext cx="173736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Incident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alert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325880"/>
            <a:ext cx="173736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IBM MQ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9664" y="1325880"/>
            <a:ext cx="173736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IBM 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logs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25880"/>
            <a:ext cx="173736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8" y="1325880"/>
            <a:ext cx="173736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Historical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incidents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1325880"/>
            <a:ext cx="173736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Knowledge /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runbooks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97880" y="2176272"/>
            <a:ext cx="256032" cy="201168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450592"/>
            <a:ext cx="11430000" cy="169164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514600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 Incident Copilot   —   proposed intelligence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07792"/>
            <a:ext cx="26060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Analyze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10712" y="2907792"/>
            <a:ext cx="26060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Correlate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2907792"/>
            <a:ext cx="26060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Find patterns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2907792"/>
            <a:ext cx="26060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Recommend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897880" y="4206240"/>
            <a:ext cx="256032" cy="201168"/>
          </a:xfrm>
          <a:prstGeom prst="down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480560"/>
            <a:ext cx="5532120" cy="960120"/>
          </a:xfrm>
          <a:prstGeom prst="rect">
            <a:avLst/>
          </a:prstGeom>
          <a:solidFill>
            <a:srgbClr val="E2EFDA"/>
          </a:solidFill>
          <a:ln w="12700">
            <a:solidFill>
              <a:srgbClr val="375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75E37"/>
                </a:solidFill>
                <a:latin typeface="Calibri"/>
              </a:rPr>
              <a:t>Engineer validation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2F2F"/>
                </a:solidFill>
                <a:latin typeface="Calibri"/>
              </a:rPr>
              <a:t>Review findings, confirm likely cause, choose the action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89320" y="4828032"/>
            <a:ext cx="347472" cy="219456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4480560"/>
            <a:ext cx="5349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Action / resolution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F2F2F"/>
                </a:solidFill>
                <a:latin typeface="Calibri"/>
              </a:rPr>
              <a:t>Engineer executes the change — not the AI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623560"/>
            <a:ext cx="1143000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73152" tIns="36576" bIns="3657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The Copilot does not replace the engineer.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F2F2F"/>
                </a:solidFill>
                <a:latin typeface="Calibri"/>
              </a:rPr>
              <a:t>It reduces investigation effort and helps the engineer reach the right decision faster.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6766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Airport Technology  |  Internal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2440" y="45720"/>
            <a:ext cx="3794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 INTEGRATE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Example: AODB Incident Investigation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96112"/>
            <a:ext cx="1920240" cy="411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772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Confidential  |  Human-in-the-loop concept  |  Not an implemented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286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Slide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95959"/>
                </a:solidFill>
                <a:latin typeface="Calibri"/>
              </a:rPr>
              <a:t>Illustrative path  (generic example)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98448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AODB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13431" y="1554480"/>
            <a:ext cx="274320" cy="201168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1760" y="1298448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FLTU / RNUP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message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599431" y="1554480"/>
            <a:ext cx="274320" cy="201168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7760" y="1298448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IBM MQ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885431" y="1554480"/>
            <a:ext cx="274320" cy="201168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760" y="1298448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IBM ACE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71431" y="1554480"/>
            <a:ext cx="274320" cy="201168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1298448"/>
            <a:ext cx="1874519" cy="777240"/>
          </a:xfrm>
          <a:prstGeom prst="rect">
            <a:avLst/>
          </a:prstGeom>
          <a:solidFill>
            <a:srgbClr val="FDE2E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00000"/>
                </a:solidFill>
                <a:latin typeface="Calibri"/>
              </a:rPr>
              <a:t>Processing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Calibri"/>
              </a:rPr>
              <a:t>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95959"/>
                </a:solidFill>
                <a:latin typeface="Calibri"/>
              </a:rPr>
              <a:t>What the Copilot could produce for the engineer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14600"/>
            <a:ext cx="2743200" cy="2148840"/>
          </a:xfrm>
          <a:prstGeom prst="rect">
            <a:avLst/>
          </a:prstGeom>
          <a:solidFill>
            <a:srgbClr val="FDE9D9"/>
          </a:solidFill>
          <a:ln w="12700">
            <a:solidFill>
              <a:srgbClr val="C659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2514600"/>
            <a:ext cx="2743200" cy="292608"/>
          </a:xfrm>
          <a:prstGeom prst="rect">
            <a:avLst/>
          </a:prstGeom>
          <a:solidFill>
            <a:srgbClr val="C659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Incident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2907792"/>
            <a:ext cx="2523744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F2F2F"/>
                </a:solidFill>
                <a:latin typeface="Calibri"/>
              </a:rPr>
              <a:t>AODB FLTU/RNUP processing failure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2514600"/>
            <a:ext cx="2743200" cy="214884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2514600"/>
            <a:ext cx="2743200" cy="2926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Correlation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2907792"/>
            <a:ext cx="2523744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F2F2F"/>
                </a:solidFill>
                <a:latin typeface="Calibri"/>
              </a:rPr>
              <a:t>Message reached MQ successfully. Failure occurred during downstream processing.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514600"/>
            <a:ext cx="2743200" cy="2148840"/>
          </a:xfrm>
          <a:prstGeom prst="rect">
            <a:avLst/>
          </a:prstGeom>
          <a:solidFill>
            <a:srgbClr val="F2F2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514600"/>
            <a:ext cx="2743200" cy="2926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Pattern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2907792"/>
            <a:ext cx="2523744" cy="1600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F2F2F"/>
                </a:solidFill>
                <a:latin typeface="Calibri"/>
              </a:rPr>
              <a:t>Similar incidents were previously associated with the ACE processing layer.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2514600"/>
            <a:ext cx="27432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0" y="2514600"/>
            <a:ext cx="2743200" cy="29260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2807208"/>
            <a:ext cx="2743200" cy="1856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sz="1200" b="0">
                <a:solidFill>
                  <a:srgbClr val="2F2F2F"/>
                </a:solidFill>
                <a:latin typeface="Calibri"/>
              </a:rPr>
              <a:t>Check ACE application logs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sz="1200" b="0">
                <a:solidFill>
                  <a:srgbClr val="2F2F2F"/>
                </a:solidFill>
                <a:latin typeface="Calibri"/>
              </a:rPr>
              <a:t>Validate message payload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sz="1200" b="0">
                <a:solidFill>
                  <a:srgbClr val="2F2F2F"/>
                </a:solidFill>
                <a:latin typeface="Calibri"/>
              </a:rPr>
              <a:t>Check affected integration flow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sz="1200" b="0">
                <a:solidFill>
                  <a:srgbClr val="2F2F2F"/>
                </a:solidFill>
                <a:latin typeface="Calibri"/>
              </a:rPr>
              <a:t>Compare with similar historical incidents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28032"/>
            <a:ext cx="553212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4828032"/>
            <a:ext cx="5532120" cy="155448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919472"/>
            <a:ext cx="5257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95959"/>
                </a:solidFill>
                <a:latin typeface="Calibri"/>
              </a:rPr>
              <a:t>AIP Sentinel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212080"/>
            <a:ext cx="525780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“Something is wrong.”
Detection and alerting — the starting point.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919472"/>
            <a:ext cx="5257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AI Incident Copilot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212080"/>
            <a:ext cx="525780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“What happened, what is related, what pattern do we see, and what should the engineer investigate next?”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6766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Airport Technology  |  Internal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2440" y="45720"/>
            <a:ext cx="3794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SOURCE INTEGRATE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Future 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96112"/>
            <a:ext cx="1920240" cy="411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772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Confidential  |  Human-in-the-loop concept  |  Not an implemented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01968"/>
            <a:ext cx="2286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Calibri"/>
              </a:rPr>
              <a:t>Slide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staged path — engineer remains in control at every phase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2697480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2697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554480"/>
            <a:ext cx="24780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1828800"/>
            <a:ext cx="247802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Assist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468880"/>
            <a:ext cx="2478024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F2F2F"/>
                </a:solidFill>
                <a:latin typeface="Calibri"/>
              </a:rPr>
              <a:t>AI analyzes incidents and recommends next steps.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99816" y="2468880"/>
            <a:ext cx="201168" cy="16459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1371600"/>
            <a:ext cx="2697480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1444752"/>
            <a:ext cx="2697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1568" y="1554480"/>
            <a:ext cx="24780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1828800"/>
            <a:ext cx="247802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468880"/>
            <a:ext cx="2478024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F2F2F"/>
                </a:solidFill>
                <a:latin typeface="Calibri"/>
              </a:rPr>
              <a:t>Use engineer feedback and resolved incidents to improve recommendations.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25896" y="2468880"/>
            <a:ext cx="201168" cy="16459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371600"/>
            <a:ext cx="2697480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444752"/>
            <a:ext cx="2697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1554480"/>
            <a:ext cx="24780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1828800"/>
            <a:ext cx="247802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Predict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2468880"/>
            <a:ext cx="2478024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F2F2F"/>
                </a:solidFill>
                <a:latin typeface="Calibri"/>
              </a:rPr>
              <a:t>Identify recurring patterns and possible risks earlier.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951976" y="2468880"/>
            <a:ext cx="201168" cy="164592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0" y="1371600"/>
            <a:ext cx="2697480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0" y="1444752"/>
            <a:ext cx="2697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53728" y="1554480"/>
            <a:ext cx="247802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75B6"/>
                </a:solidFill>
                <a:latin typeface="Calibri"/>
              </a:rPr>
              <a:t>PHASE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1828800"/>
            <a:ext cx="247802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Controlled automation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468880"/>
            <a:ext cx="2478024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F2F2F"/>
                </a:solidFill>
                <a:latin typeface="Calibri"/>
              </a:rPr>
              <a:t>Potential automation only for approved, low-risk actions, with proper validation.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77639"/>
            <a:ext cx="11430000" cy="86868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73152" tIns="36576" bIns="3657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75B6"/>
                </a:solidFill>
                <a:latin typeface="Calibri"/>
              </a:rPr>
              <a:t>Key benefit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Reduce incident investigation time while keeping the engineer in control.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9160" y="5029200"/>
            <a:ext cx="2743200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166360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Thank You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Questions and discussion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